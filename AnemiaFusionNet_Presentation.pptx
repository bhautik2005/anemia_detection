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AnemiaFusionNet. This presentation covers the problem, solution, architecture, datasets, models, results, and web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Anemia affects 1.62 billion people globally. India has extremely high rates particularly among women and children. Current detection requires lab blood tests which are inaccessible in rural settings. Our solution uses AI with a smartphone camera and basic clinical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4 modules: CNN Eye Model extracts visual features from conjunctiva photos; Clinical ML model processes blood count parameters; Geo-Risk module uses NFHS-5 data; Transformer Fusion combines all three. Modules 1 and 2 are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follows a structured 10-step pipeline from data collection through deployment. Steps 1-5 are focused on data and individual model building. Steps 6-10 cover fusion, training, evaluation, and web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main datasets: Eye image dataset with 3-5 conjunctiva photos per patient labelled by hemoglobin level. Clinical dataset with 1,176 blood cell records from CytoData and PBC_Dataset. Geographic risk data from NFHS-5 India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Custom 4-block CNN trained on conjunctiva images. Uses patient-level split to prevent data leakage. Heavy augmentation compensates for small dataset size. Output is both a 2-class prediction and a 128-dim feature vector for later 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RandomForest selected from 4 models via 5-fold cross-validation. 7 features are engineered from the raw data. The most important are pallor_index and anemia_risk_score. Output is a 64-dim vector for 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CNN model achieves ~57% accuracy and AUC 0.57 — limited by small dataset. Clinical model achieves perfect scores but this is due to data leakage from automated cytodiffusion scores. Both limitations have clear fixes outlined in the recommendations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Streamlit app has 4 pages: Home, Clinical Prediction, Eye Image Prediction, and About. It supports both file upload and live webcam capture. The utils/placeholders.py file is the only file needing editing to plug in real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we have delivered 2 working AI models, a full web app, and comprehensive evaluation. Limitations are clearly identified with concrete fix plans. The architecture is production-ready and extensible to full fusion once data is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3474720" y="-1371600"/>
            <a:ext cx="5486400" cy="5486400"/>
          </a:xfrm>
          <a:prstGeom prst="oval">
            <a:avLst/>
          </a:prstGeom>
          <a:solidFill>
            <a:srgbClr val="3B82F6">
              <a:alpha val="12000"/>
            </a:srgbClr>
          </a:solidFill>
          <a:ln w="12700">
            <a:solidFill>
              <a:srgbClr val="0B1120"/>
            </a:solidFill>
            <a:prstDash val="solid"/>
          </a:ln>
        </p:spPr>
      </p:sp>
      <p:sp>
        <p:nvSpPr>
          <p:cNvPr id="3" name="Shape 1"/>
          <p:cNvSpPr/>
          <p:nvPr/>
        </p:nvSpPr>
        <p:spPr>
          <a:xfrm>
            <a:off x="4114800" y="-731520"/>
            <a:ext cx="3657600" cy="3657600"/>
          </a:xfrm>
          <a:prstGeom prst="oval">
            <a:avLst/>
          </a:prstGeom>
          <a:solidFill>
            <a:srgbClr val="06B6D4">
              <a:alpha val="10000"/>
            </a:srgbClr>
          </a:solidFill>
          <a:ln w="12700">
            <a:solidFill>
              <a:srgbClr val="0B1120"/>
            </a:solidFill>
            <a:prstDash val="solid"/>
          </a:ln>
        </p:spPr>
      </p:sp>
      <p:pic>
        <p:nvPicPr>
          <p:cNvPr id="4" name="Image 0" descr="preencoded.png">    </p:cNvPr>
          <p:cNvPicPr>
            <a:picLocks noChangeAspect="1"/>
          </p:cNvPicPr>
          <p:nvPr/>
        </p:nvPicPr>
        <p:blipFill>
          <a:blip r:embed="rId1"/>
          <a:stretch>
            <a:fillRect/>
          </a:stretch>
        </p:blipFill>
        <p:spPr>
          <a:xfrm>
            <a:off x="4160520" y="502920"/>
            <a:ext cx="822960" cy="822960"/>
          </a:xfrm>
          <a:prstGeom prst="rect">
            <a:avLst/>
          </a:prstGeom>
        </p:spPr>
      </p:pic>
      <p:sp>
        <p:nvSpPr>
          <p:cNvPr id="5" name="Text 2"/>
          <p:cNvSpPr/>
          <p:nvPr/>
        </p:nvSpPr>
        <p:spPr>
          <a:xfrm>
            <a:off x="457200" y="1188720"/>
            <a:ext cx="8229600" cy="1005840"/>
          </a:xfrm>
          <a:prstGeom prst="rect">
            <a:avLst/>
          </a:prstGeom>
          <a:noFill/>
          <a:ln/>
        </p:spPr>
        <p:txBody>
          <a:bodyPr wrap="square"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AnemiaFusionNet</a:t>
            </a:r>
            <a:endParaRPr lang="en-US" sz="5200" dirty="0"/>
          </a:p>
        </p:txBody>
      </p:sp>
      <p:sp>
        <p:nvSpPr>
          <p:cNvPr id="6" name="Text 3"/>
          <p:cNvSpPr/>
          <p:nvPr/>
        </p:nvSpPr>
        <p:spPr>
          <a:xfrm>
            <a:off x="457200" y="2148840"/>
            <a:ext cx="8229600" cy="502920"/>
          </a:xfrm>
          <a:prstGeom prst="rect">
            <a:avLst/>
          </a:prstGeom>
          <a:noFill/>
          <a:ln/>
        </p:spPr>
        <p:txBody>
          <a:bodyPr wrap="square" rtlCol="0" anchor="ctr"/>
          <a:lstStyle/>
          <a:p>
            <a:pPr algn="ctr" indent="0" marL="0">
              <a:buNone/>
            </a:pPr>
            <a:r>
              <a:rPr lang="en-US" sz="2000" dirty="0">
                <a:solidFill>
                  <a:srgbClr val="E2E8F0"/>
                </a:solidFill>
                <a:latin typeface="Calibri" pitchFamily="34" charset="0"/>
                <a:ea typeface="Calibri" pitchFamily="34" charset="-122"/>
                <a:cs typeface="Calibri" pitchFamily="34" charset="-120"/>
              </a:rPr>
              <a:t>Multimodal AI Framework for </a:t>
            </a:r>
            <a:pPr algn="ctr" indent="0" marL="0">
              <a:buNone/>
            </a:pPr>
            <a:r>
              <a:rPr lang="en-US" sz="2000" dirty="0">
                <a:solidFill>
                  <a:srgbClr val="3B82F6"/>
                </a:solidFill>
                <a:latin typeface="Calibri" pitchFamily="34" charset="0"/>
                <a:ea typeface="Calibri" pitchFamily="34" charset="-122"/>
                <a:cs typeface="Calibri" pitchFamily="34" charset="-120"/>
              </a:rPr>
              <a:t>Region-Aware Anemia Detection</a:t>
            </a:r>
            <a:endParaRPr lang="en-US" sz="2000" dirty="0"/>
          </a:p>
        </p:txBody>
      </p:sp>
      <p:sp>
        <p:nvSpPr>
          <p:cNvPr id="7" name="Shape 4"/>
          <p:cNvSpPr/>
          <p:nvPr/>
        </p:nvSpPr>
        <p:spPr>
          <a:xfrm>
            <a:off x="2743200" y="2788920"/>
            <a:ext cx="3657600" cy="0"/>
          </a:xfrm>
          <a:prstGeom prst="line">
            <a:avLst/>
          </a:prstGeom>
          <a:noFill/>
          <a:ln w="19050">
            <a:solidFill>
              <a:srgbClr val="3B82F6"/>
            </a:solidFill>
            <a:prstDash val="solid"/>
          </a:ln>
        </p:spPr>
      </p:sp>
      <p:sp>
        <p:nvSpPr>
          <p:cNvPr id="8" name="Text 5"/>
          <p:cNvSpPr/>
          <p:nvPr/>
        </p:nvSpPr>
        <p:spPr>
          <a:xfrm>
            <a:off x="457200" y="3017520"/>
            <a:ext cx="8229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Bhautik Gondaliya</a:t>
            </a:r>
            <a:pPr algn="ctr" indent="0" marL="0">
              <a:buNone/>
            </a:pPr>
            <a:r>
              <a:rPr lang="en-US" sz="1300" dirty="0">
                <a:solidFill>
                  <a:srgbClr val="94A3B8"/>
                </a:solidFill>
                <a:latin typeface="Calibri" pitchFamily="34" charset="0"/>
                <a:ea typeface="Calibri" pitchFamily="34" charset="-122"/>
                <a:cs typeface="Calibri" pitchFamily="34" charset="-120"/>
              </a:rPr>
              <a:t>   ·   gondaliyabhautik419@gmail.com</a:t>
            </a:r>
            <a:endParaRPr lang="en-US" sz="1300" dirty="0"/>
          </a:p>
        </p:txBody>
      </p:sp>
      <p:sp>
        <p:nvSpPr>
          <p:cNvPr id="9" name="Text 6"/>
          <p:cNvSpPr/>
          <p:nvPr/>
        </p:nvSpPr>
        <p:spPr>
          <a:xfrm>
            <a:off x="457200" y="3429000"/>
            <a:ext cx="8229600" cy="27432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github.com/bhautik2005/Anemia_detection  ·  Data Vidwan  ·  2024</a:t>
            </a:r>
            <a:endParaRPr lang="en-US" sz="1100" dirty="0"/>
          </a:p>
        </p:txBody>
      </p:sp>
      <p:sp>
        <p:nvSpPr>
          <p:cNvPr id="10" name="Shape 7"/>
          <p:cNvSpPr/>
          <p:nvPr/>
        </p:nvSpPr>
        <p:spPr>
          <a:xfrm>
            <a:off x="1920240" y="3931920"/>
            <a:ext cx="1737360" cy="347472"/>
          </a:xfrm>
          <a:prstGeom prst="roundRect">
            <a:avLst>
              <a:gd name="adj" fmla="val 50000"/>
            </a:avLst>
          </a:prstGeom>
          <a:solidFill>
            <a:srgbClr val="1A2744"/>
          </a:solidFill>
          <a:ln w="6350">
            <a:solidFill>
              <a:srgbClr val="3B82F6"/>
            </a:solidFill>
            <a:prstDash val="solid"/>
          </a:ln>
        </p:spPr>
      </p:sp>
      <p:sp>
        <p:nvSpPr>
          <p:cNvPr id="11" name="Text 8"/>
          <p:cNvSpPr/>
          <p:nvPr/>
        </p:nvSpPr>
        <p:spPr>
          <a:xfrm>
            <a:off x="1920240" y="3931920"/>
            <a:ext cx="1737360" cy="347472"/>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 Deep Learning</a:t>
            </a:r>
            <a:endParaRPr lang="en-US" sz="1100" dirty="0"/>
          </a:p>
        </p:txBody>
      </p:sp>
      <p:sp>
        <p:nvSpPr>
          <p:cNvPr id="12" name="Shape 9"/>
          <p:cNvSpPr/>
          <p:nvPr/>
        </p:nvSpPr>
        <p:spPr>
          <a:xfrm>
            <a:off x="3840480" y="3931920"/>
            <a:ext cx="1737360" cy="347472"/>
          </a:xfrm>
          <a:prstGeom prst="roundRect">
            <a:avLst>
              <a:gd name="adj" fmla="val 50000"/>
            </a:avLst>
          </a:prstGeom>
          <a:solidFill>
            <a:srgbClr val="1A2744"/>
          </a:solidFill>
          <a:ln w="6350">
            <a:solidFill>
              <a:srgbClr val="3B82F6"/>
            </a:solidFill>
            <a:prstDash val="solid"/>
          </a:ln>
        </p:spPr>
      </p:sp>
      <p:sp>
        <p:nvSpPr>
          <p:cNvPr id="13" name="Text 10"/>
          <p:cNvSpPr/>
          <p:nvPr/>
        </p:nvSpPr>
        <p:spPr>
          <a:xfrm>
            <a:off x="3840480" y="3931920"/>
            <a:ext cx="1737360" cy="347472"/>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 Computer Vision</a:t>
            </a:r>
            <a:endParaRPr lang="en-US" sz="1100" dirty="0"/>
          </a:p>
        </p:txBody>
      </p:sp>
      <p:sp>
        <p:nvSpPr>
          <p:cNvPr id="14" name="Shape 11"/>
          <p:cNvSpPr/>
          <p:nvPr/>
        </p:nvSpPr>
        <p:spPr>
          <a:xfrm>
            <a:off x="5760720" y="3931920"/>
            <a:ext cx="1737360" cy="347472"/>
          </a:xfrm>
          <a:prstGeom prst="roundRect">
            <a:avLst>
              <a:gd name="adj" fmla="val 50000"/>
            </a:avLst>
          </a:prstGeom>
          <a:solidFill>
            <a:srgbClr val="1A2744"/>
          </a:solidFill>
          <a:ln w="6350">
            <a:solidFill>
              <a:srgbClr val="3B82F6"/>
            </a:solidFill>
            <a:prstDash val="solid"/>
          </a:ln>
        </p:spPr>
      </p:sp>
      <p:sp>
        <p:nvSpPr>
          <p:cNvPr id="15" name="Text 12"/>
          <p:cNvSpPr/>
          <p:nvPr/>
        </p:nvSpPr>
        <p:spPr>
          <a:xfrm>
            <a:off x="5760720" y="3931920"/>
            <a:ext cx="1737360" cy="347472"/>
          </a:xfrm>
          <a:prstGeom prst="rect">
            <a:avLst/>
          </a:prstGeom>
          <a:noFill/>
          <a:ln/>
        </p:spPr>
        <p:txBody>
          <a:bodyPr wrap="square" lIns="0" tIns="0" rIns="0" bIns="0" rtlCol="0" anchor="ctr"/>
          <a:lstStyle/>
          <a:p>
            <a:pPr algn="ctr" indent="0" marL="0">
              <a:buNone/>
            </a:pPr>
            <a:r>
              <a:rPr lang="en-US" sz="1100" dirty="0">
                <a:solidFill>
                  <a:srgbClr val="E2E8F0"/>
                </a:solidFill>
                <a:latin typeface="Calibri" pitchFamily="34" charset="0"/>
                <a:ea typeface="Calibri" pitchFamily="34" charset="-122"/>
                <a:cs typeface="Calibri" pitchFamily="34" charset="-120"/>
              </a:rPr>
              <a:t>🩺 Healthcare AI</a:t>
            </a:r>
            <a:endParaRPr lang="en-US" sz="1100" dirty="0"/>
          </a:p>
        </p:txBody>
      </p:sp>
      <p:sp>
        <p:nvSpPr>
          <p:cNvPr id="17" name="Text 13"/>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Bhautik Gondaliya  ·  AnemiaFusionNet  ·  1/10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365760" y="228600"/>
            <a:ext cx="1463040" cy="256032"/>
          </a:xfrm>
          <a:prstGeom prst="roundRect">
            <a:avLst>
              <a:gd name="adj" fmla="val 21429"/>
            </a:avLst>
          </a:prstGeom>
          <a:solidFill>
            <a:srgbClr val="EF4444"/>
          </a:solidFill>
          <a:ln/>
        </p:spPr>
      </p:sp>
      <p:sp>
        <p:nvSpPr>
          <p:cNvPr id="3" name="Text 1"/>
          <p:cNvSpPr/>
          <p:nvPr/>
        </p:nvSpPr>
        <p:spPr>
          <a:xfrm>
            <a:off x="365760" y="228600"/>
            <a:ext cx="14630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PROBLEM</a:t>
            </a:r>
            <a:endParaRPr lang="en-US" sz="900" dirty="0"/>
          </a:p>
        </p:txBody>
      </p:sp>
      <p:sp>
        <p:nvSpPr>
          <p:cNvPr id="4" name="Text 2"/>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Challenge of Anemia Detection</a:t>
            </a:r>
            <a:endParaRPr lang="en-US" sz="3200" dirty="0"/>
          </a:p>
        </p:txBody>
      </p:sp>
      <p:sp>
        <p:nvSpPr>
          <p:cNvPr id="5" name="Shape 3"/>
          <p:cNvSpPr/>
          <p:nvPr/>
        </p:nvSpPr>
        <p:spPr>
          <a:xfrm>
            <a:off x="365760" y="1325880"/>
            <a:ext cx="2560320" cy="1325880"/>
          </a:xfrm>
          <a:prstGeom prst="roundRect">
            <a:avLst>
              <a:gd name="adj" fmla="val 8276"/>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6" name="Shape 4"/>
          <p:cNvSpPr/>
          <p:nvPr/>
        </p:nvSpPr>
        <p:spPr>
          <a:xfrm>
            <a:off x="365760" y="1325880"/>
            <a:ext cx="2560320" cy="54864"/>
          </a:xfrm>
          <a:prstGeom prst="roundRect">
            <a:avLst/>
          </a:prstGeom>
          <a:solidFill>
            <a:srgbClr val="EF4444"/>
          </a:solidFill>
          <a:ln w="12700">
            <a:solidFill>
              <a:srgbClr val="EF4444"/>
            </a:solidFill>
            <a:prstDash val="solid"/>
          </a:ln>
        </p:spPr>
      </p:sp>
      <p:sp>
        <p:nvSpPr>
          <p:cNvPr id="7" name="Text 5"/>
          <p:cNvSpPr/>
          <p:nvPr/>
        </p:nvSpPr>
        <p:spPr>
          <a:xfrm>
            <a:off x="365760" y="1463040"/>
            <a:ext cx="2560320" cy="640080"/>
          </a:xfrm>
          <a:prstGeom prst="rect">
            <a:avLst/>
          </a:prstGeom>
          <a:noFill/>
          <a:ln/>
        </p:spPr>
        <p:txBody>
          <a:bodyPr wrap="square" rtlCol="0" anchor="ctr"/>
          <a:lstStyle/>
          <a:p>
            <a:pPr algn="ctr" indent="0" marL="0">
              <a:buNone/>
            </a:pPr>
            <a:r>
              <a:rPr lang="en-US" sz="3800" b="1" dirty="0">
                <a:solidFill>
                  <a:srgbClr val="EF4444"/>
                </a:solidFill>
                <a:latin typeface="Calibri" pitchFamily="34" charset="0"/>
                <a:ea typeface="Calibri" pitchFamily="34" charset="-122"/>
                <a:cs typeface="Calibri" pitchFamily="34" charset="-120"/>
              </a:rPr>
              <a:t>1.62B</a:t>
            </a:r>
            <a:endParaRPr lang="en-US" sz="3800" dirty="0"/>
          </a:p>
        </p:txBody>
      </p:sp>
      <p:sp>
        <p:nvSpPr>
          <p:cNvPr id="8" name="Text 6"/>
          <p:cNvSpPr/>
          <p:nvPr/>
        </p:nvSpPr>
        <p:spPr>
          <a:xfrm>
            <a:off x="365760" y="2084832"/>
            <a:ext cx="2560320" cy="502920"/>
          </a:xfrm>
          <a:prstGeom prst="rect">
            <a:avLst/>
          </a:prstGeom>
          <a:noFill/>
          <a:ln/>
        </p:spPr>
        <p:txBody>
          <a:bodyPr wrap="square" rtlCol="0" anchor="t"/>
          <a:lstStyle/>
          <a:p>
            <a:pPr algn="ctr" indent="0" marL="0">
              <a:buNone/>
            </a:pPr>
            <a:r>
              <a:rPr lang="en-US" sz="1150" dirty="0">
                <a:solidFill>
                  <a:srgbClr val="E2E8F0"/>
                </a:solidFill>
                <a:latin typeface="Calibri" pitchFamily="34" charset="0"/>
                <a:ea typeface="Calibri" pitchFamily="34" charset="-122"/>
                <a:cs typeface="Calibri" pitchFamily="34" charset="-120"/>
              </a:rPr>
              <a:t>People globally</a:t>
            </a:r>
            <a:endParaRPr lang="en-US" sz="1150" dirty="0"/>
          </a:p>
          <a:p>
            <a:pPr algn="ctr" indent="0" marL="0">
              <a:buNone/>
            </a:pPr>
            <a:r>
              <a:rPr lang="en-US" sz="1150" dirty="0">
                <a:solidFill>
                  <a:srgbClr val="E2E8F0"/>
                </a:solidFill>
                <a:latin typeface="Calibri" pitchFamily="34" charset="0"/>
                <a:ea typeface="Calibri" pitchFamily="34" charset="-122"/>
                <a:cs typeface="Calibri" pitchFamily="34" charset="-120"/>
              </a:rPr>
              <a:t>affected by anemia</a:t>
            </a:r>
            <a:endParaRPr lang="en-US" sz="1150" dirty="0"/>
          </a:p>
        </p:txBody>
      </p:sp>
      <p:sp>
        <p:nvSpPr>
          <p:cNvPr id="9" name="Shape 7"/>
          <p:cNvSpPr/>
          <p:nvPr/>
        </p:nvSpPr>
        <p:spPr>
          <a:xfrm>
            <a:off x="3200400" y="1325880"/>
            <a:ext cx="2560320" cy="1325880"/>
          </a:xfrm>
          <a:prstGeom prst="roundRect">
            <a:avLst>
              <a:gd name="adj" fmla="val 8276"/>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0" name="Shape 8"/>
          <p:cNvSpPr/>
          <p:nvPr/>
        </p:nvSpPr>
        <p:spPr>
          <a:xfrm>
            <a:off x="3200400" y="1325880"/>
            <a:ext cx="2560320" cy="54864"/>
          </a:xfrm>
          <a:prstGeom prst="roundRect">
            <a:avLst/>
          </a:prstGeom>
          <a:solidFill>
            <a:srgbClr val="F59E0B"/>
          </a:solidFill>
          <a:ln w="12700">
            <a:solidFill>
              <a:srgbClr val="F59E0B"/>
            </a:solidFill>
            <a:prstDash val="solid"/>
          </a:ln>
        </p:spPr>
      </p:sp>
      <p:sp>
        <p:nvSpPr>
          <p:cNvPr id="11" name="Text 9"/>
          <p:cNvSpPr/>
          <p:nvPr/>
        </p:nvSpPr>
        <p:spPr>
          <a:xfrm>
            <a:off x="3200400" y="1463040"/>
            <a:ext cx="2560320" cy="640080"/>
          </a:xfrm>
          <a:prstGeom prst="rect">
            <a:avLst/>
          </a:prstGeom>
          <a:noFill/>
          <a:ln/>
        </p:spPr>
        <p:txBody>
          <a:bodyPr wrap="square" rtlCol="0" anchor="ctr"/>
          <a:lstStyle/>
          <a:p>
            <a:pPr algn="ctr" indent="0" marL="0">
              <a:buNone/>
            </a:pPr>
            <a:r>
              <a:rPr lang="en-US" sz="3800" b="1" dirty="0">
                <a:solidFill>
                  <a:srgbClr val="F59E0B"/>
                </a:solidFill>
                <a:latin typeface="Calibri" pitchFamily="34" charset="0"/>
                <a:ea typeface="Calibri" pitchFamily="34" charset="-122"/>
                <a:cs typeface="Calibri" pitchFamily="34" charset="-120"/>
              </a:rPr>
              <a:t>50%+</a:t>
            </a:r>
            <a:endParaRPr lang="en-US" sz="3800" dirty="0"/>
          </a:p>
        </p:txBody>
      </p:sp>
      <p:sp>
        <p:nvSpPr>
          <p:cNvPr id="12" name="Text 10"/>
          <p:cNvSpPr/>
          <p:nvPr/>
        </p:nvSpPr>
        <p:spPr>
          <a:xfrm>
            <a:off x="3200400" y="2084832"/>
            <a:ext cx="2560320" cy="502920"/>
          </a:xfrm>
          <a:prstGeom prst="rect">
            <a:avLst/>
          </a:prstGeom>
          <a:noFill/>
          <a:ln/>
        </p:spPr>
        <p:txBody>
          <a:bodyPr wrap="square" rtlCol="0" anchor="t"/>
          <a:lstStyle/>
          <a:p>
            <a:pPr algn="ctr" indent="0" marL="0">
              <a:buNone/>
            </a:pPr>
            <a:r>
              <a:rPr lang="en-US" sz="1150" dirty="0">
                <a:solidFill>
                  <a:srgbClr val="E2E8F0"/>
                </a:solidFill>
                <a:latin typeface="Calibri" pitchFamily="34" charset="0"/>
                <a:ea typeface="Calibri" pitchFamily="34" charset="-122"/>
                <a:cs typeface="Calibri" pitchFamily="34" charset="-120"/>
              </a:rPr>
              <a:t>Cases in India</a:t>
            </a:r>
            <a:endParaRPr lang="en-US" sz="1150" dirty="0"/>
          </a:p>
          <a:p>
            <a:pPr algn="ctr" indent="0" marL="0">
              <a:buNone/>
            </a:pPr>
            <a:r>
              <a:rPr lang="en-US" sz="1150" dirty="0">
                <a:solidFill>
                  <a:srgbClr val="E2E8F0"/>
                </a:solidFill>
                <a:latin typeface="Calibri" pitchFamily="34" charset="0"/>
                <a:ea typeface="Calibri" pitchFamily="34" charset="-122"/>
                <a:cs typeface="Calibri" pitchFamily="34" charset="-120"/>
              </a:rPr>
              <a:t>among children</a:t>
            </a:r>
            <a:endParaRPr lang="en-US" sz="1150" dirty="0"/>
          </a:p>
        </p:txBody>
      </p:sp>
      <p:sp>
        <p:nvSpPr>
          <p:cNvPr id="13" name="Shape 11"/>
          <p:cNvSpPr/>
          <p:nvPr/>
        </p:nvSpPr>
        <p:spPr>
          <a:xfrm>
            <a:off x="6035040" y="1325880"/>
            <a:ext cx="2560320" cy="1325880"/>
          </a:xfrm>
          <a:prstGeom prst="roundRect">
            <a:avLst>
              <a:gd name="adj" fmla="val 8276"/>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4" name="Shape 12"/>
          <p:cNvSpPr/>
          <p:nvPr/>
        </p:nvSpPr>
        <p:spPr>
          <a:xfrm>
            <a:off x="6035040" y="1325880"/>
            <a:ext cx="2560320" cy="54864"/>
          </a:xfrm>
          <a:prstGeom prst="roundRect">
            <a:avLst/>
          </a:prstGeom>
          <a:solidFill>
            <a:srgbClr val="3B82F6"/>
          </a:solidFill>
          <a:ln w="12700">
            <a:solidFill>
              <a:srgbClr val="3B82F6"/>
            </a:solidFill>
            <a:prstDash val="solid"/>
          </a:ln>
        </p:spPr>
      </p:sp>
      <p:sp>
        <p:nvSpPr>
          <p:cNvPr id="15" name="Text 13"/>
          <p:cNvSpPr/>
          <p:nvPr/>
        </p:nvSpPr>
        <p:spPr>
          <a:xfrm>
            <a:off x="6035040" y="1463040"/>
            <a:ext cx="2560320" cy="640080"/>
          </a:xfrm>
          <a:prstGeom prst="rect">
            <a:avLst/>
          </a:prstGeom>
          <a:noFill/>
          <a:ln/>
        </p:spPr>
        <p:txBody>
          <a:bodyPr wrap="square" rtlCol="0" anchor="ctr"/>
          <a:lstStyle/>
          <a:p>
            <a:pPr algn="ctr" indent="0" marL="0">
              <a:buNone/>
            </a:pPr>
            <a:r>
              <a:rPr lang="en-US" sz="3800" b="1" dirty="0">
                <a:solidFill>
                  <a:srgbClr val="3B82F6"/>
                </a:solidFill>
                <a:latin typeface="Calibri" pitchFamily="34" charset="0"/>
                <a:ea typeface="Calibri" pitchFamily="34" charset="-122"/>
                <a:cs typeface="Calibri" pitchFamily="34" charset="-120"/>
              </a:rPr>
              <a:t>63%</a:t>
            </a:r>
            <a:endParaRPr lang="en-US" sz="3800" dirty="0"/>
          </a:p>
        </p:txBody>
      </p:sp>
      <p:sp>
        <p:nvSpPr>
          <p:cNvPr id="16" name="Text 14"/>
          <p:cNvSpPr/>
          <p:nvPr/>
        </p:nvSpPr>
        <p:spPr>
          <a:xfrm>
            <a:off x="6035040" y="2084832"/>
            <a:ext cx="2560320" cy="502920"/>
          </a:xfrm>
          <a:prstGeom prst="rect">
            <a:avLst/>
          </a:prstGeom>
          <a:noFill/>
          <a:ln/>
        </p:spPr>
        <p:txBody>
          <a:bodyPr wrap="square" rtlCol="0" anchor="t"/>
          <a:lstStyle/>
          <a:p>
            <a:pPr algn="ctr" indent="0" marL="0">
              <a:buNone/>
            </a:pPr>
            <a:r>
              <a:rPr lang="en-US" sz="1150" dirty="0">
                <a:solidFill>
                  <a:srgbClr val="E2E8F0"/>
                </a:solidFill>
                <a:latin typeface="Calibri" pitchFamily="34" charset="0"/>
                <a:ea typeface="Calibri" pitchFamily="34" charset="-122"/>
                <a:cs typeface="Calibri" pitchFamily="34" charset="-120"/>
              </a:rPr>
              <a:t>Women anemic</a:t>
            </a:r>
            <a:endParaRPr lang="en-US" sz="1150" dirty="0"/>
          </a:p>
          <a:p>
            <a:pPr algn="ctr" indent="0" marL="0">
              <a:buNone/>
            </a:pPr>
            <a:r>
              <a:rPr lang="en-US" sz="1150" dirty="0">
                <a:solidFill>
                  <a:srgbClr val="E2E8F0"/>
                </a:solidFill>
                <a:latin typeface="Calibri" pitchFamily="34" charset="0"/>
                <a:ea typeface="Calibri" pitchFamily="34" charset="-122"/>
                <a:cs typeface="Calibri" pitchFamily="34" charset="-120"/>
              </a:rPr>
              <a:t>in some Indian states</a:t>
            </a:r>
            <a:endParaRPr lang="en-US" sz="1150" dirty="0"/>
          </a:p>
        </p:txBody>
      </p:sp>
      <p:sp>
        <p:nvSpPr>
          <p:cNvPr id="17" name="Shape 15"/>
          <p:cNvSpPr/>
          <p:nvPr/>
        </p:nvSpPr>
        <p:spPr>
          <a:xfrm>
            <a:off x="365760" y="2788920"/>
            <a:ext cx="4114800" cy="1920240"/>
          </a:xfrm>
          <a:prstGeom prst="roundRect">
            <a:avLst>
              <a:gd name="adj" fmla="val 5714"/>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8" name="Text 16"/>
          <p:cNvSpPr/>
          <p:nvPr/>
        </p:nvSpPr>
        <p:spPr>
          <a:xfrm>
            <a:off x="502920" y="2880360"/>
            <a:ext cx="3840480" cy="320040"/>
          </a:xfrm>
          <a:prstGeom prst="rect">
            <a:avLst/>
          </a:prstGeom>
          <a:noFill/>
          <a:ln/>
        </p:spPr>
        <p:txBody>
          <a:bodyPr wrap="square"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Current Problems</a:t>
            </a:r>
            <a:endParaRPr lang="en-US" sz="1400" dirty="0"/>
          </a:p>
        </p:txBody>
      </p:sp>
      <p:sp>
        <p:nvSpPr>
          <p:cNvPr id="19" name="Text 17"/>
          <p:cNvSpPr/>
          <p:nvPr/>
        </p:nvSpPr>
        <p:spPr>
          <a:xfrm>
            <a:off x="502920" y="3246120"/>
            <a:ext cx="3840480" cy="1371600"/>
          </a:xfrm>
          <a:prstGeom prst="rect">
            <a:avLst/>
          </a:prstGeom>
          <a:noFill/>
          <a:ln/>
        </p:spPr>
        <p:txBody>
          <a:bodyPr wrap="square" rtlCol="0" anchor="ctr"/>
          <a:lstStyle/>
          <a:p>
            <a:pPr marL="342900" indent="-342900">
              <a:spcAft>
                <a:spcPts val="600"/>
              </a:spcAft>
              <a:buSzPct val="100000"/>
              <a:buChar char="•"/>
            </a:pPr>
            <a:r>
              <a:rPr lang="en-US" sz="1250" dirty="0">
                <a:solidFill>
                  <a:srgbClr val="E2E8F0"/>
                </a:solidFill>
                <a:latin typeface="Calibri" pitchFamily="34" charset="0"/>
                <a:ea typeface="Calibri" pitchFamily="34" charset="-122"/>
                <a:cs typeface="Calibri" pitchFamily="34" charset="-120"/>
              </a:rPr>
              <a:t>Blood tests required — inaccessible in rural India</a:t>
            </a:r>
            <a:endParaRPr lang="en-US" sz="1250" dirty="0"/>
          </a:p>
          <a:p>
            <a:pPr marL="342900" indent="-342900">
              <a:spcAft>
                <a:spcPts val="600"/>
              </a:spcAft>
              <a:buSzPct val="100000"/>
              <a:buChar char="•"/>
            </a:pPr>
            <a:r>
              <a:rPr lang="en-US" sz="1250" dirty="0">
                <a:solidFill>
                  <a:srgbClr val="E2E8F0"/>
                </a:solidFill>
                <a:latin typeface="Calibri" pitchFamily="34" charset="0"/>
                <a:ea typeface="Calibri" pitchFamily="34" charset="-122"/>
                <a:cs typeface="Calibri" pitchFamily="34" charset="-120"/>
              </a:rPr>
              <a:t>Lab equipment costly and unavailable in remote areas</a:t>
            </a:r>
            <a:endParaRPr lang="en-US" sz="1250" dirty="0"/>
          </a:p>
          <a:p>
            <a:pPr marL="342900" indent="-342900">
              <a:spcAft>
                <a:spcPts val="600"/>
              </a:spcAft>
              <a:buSzPct val="100000"/>
              <a:buChar char="•"/>
            </a:pPr>
            <a:r>
              <a:rPr lang="en-US" sz="1250" dirty="0">
                <a:solidFill>
                  <a:srgbClr val="E2E8F0"/>
                </a:solidFill>
                <a:latin typeface="Calibri" pitchFamily="34" charset="0"/>
                <a:ea typeface="Calibri" pitchFamily="34" charset="-122"/>
                <a:cs typeface="Calibri" pitchFamily="34" charset="-120"/>
              </a:rPr>
              <a:t>Symptoms (fatigue, pallor) overlap with other conditions</a:t>
            </a:r>
            <a:endParaRPr lang="en-US" sz="1250" dirty="0"/>
          </a:p>
          <a:p>
            <a:pPr marL="342900" indent="-342900">
              <a:spcAft>
                <a:spcPts val="600"/>
              </a:spcAft>
              <a:buSzPct val="100000"/>
              <a:buChar char="•"/>
            </a:pPr>
            <a:r>
              <a:rPr lang="en-US" sz="1250" dirty="0">
                <a:solidFill>
                  <a:srgbClr val="E2E8F0"/>
                </a:solidFill>
                <a:latin typeface="Calibri" pitchFamily="34" charset="0"/>
                <a:ea typeface="Calibri" pitchFamily="34" charset="-122"/>
                <a:cs typeface="Calibri" pitchFamily="34" charset="-120"/>
              </a:rPr>
              <a:t>No affordable, non-invasive screening tools exist</a:t>
            </a:r>
            <a:endParaRPr lang="en-US" sz="1250" dirty="0"/>
          </a:p>
        </p:txBody>
      </p:sp>
      <p:sp>
        <p:nvSpPr>
          <p:cNvPr id="20" name="Shape 18"/>
          <p:cNvSpPr/>
          <p:nvPr/>
        </p:nvSpPr>
        <p:spPr>
          <a:xfrm>
            <a:off x="4663440" y="2788920"/>
            <a:ext cx="4114800" cy="1920240"/>
          </a:xfrm>
          <a:prstGeom prst="roundRect">
            <a:avLst>
              <a:gd name="adj" fmla="val 5714"/>
            </a:avLst>
          </a:prstGeom>
          <a:solidFill>
            <a:srgbClr val="1A2744"/>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21" name="Text 19"/>
          <p:cNvSpPr/>
          <p:nvPr/>
        </p:nvSpPr>
        <p:spPr>
          <a:xfrm>
            <a:off x="4800600" y="2880360"/>
            <a:ext cx="3840480" cy="320040"/>
          </a:xfrm>
          <a:prstGeom prst="rect">
            <a:avLst/>
          </a:prstGeom>
          <a:noFill/>
          <a:ln/>
        </p:spPr>
        <p:txBody>
          <a:bodyPr wrap="square"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Our Solution</a:t>
            </a:r>
            <a:endParaRPr lang="en-US" sz="1400" dirty="0"/>
          </a:p>
        </p:txBody>
      </p:sp>
      <p:sp>
        <p:nvSpPr>
          <p:cNvPr id="22" name="Text 20"/>
          <p:cNvSpPr/>
          <p:nvPr/>
        </p:nvSpPr>
        <p:spPr>
          <a:xfrm>
            <a:off x="4800600" y="3246120"/>
            <a:ext cx="3840480" cy="1371600"/>
          </a:xfrm>
          <a:prstGeom prst="rect">
            <a:avLst/>
          </a:prstGeom>
          <a:noFill/>
          <a:ln/>
        </p:spPr>
        <p:txBody>
          <a:bodyPr wrap="square" rtlCol="0" anchor="ctr"/>
          <a:lstStyle/>
          <a:p>
            <a:pPr marL="342900" indent="-342900">
              <a:spcAft>
                <a:spcPts val="600"/>
              </a:spcAft>
              <a:buSzPct val="100000"/>
              <a:buChar char="•"/>
            </a:pPr>
            <a:r>
              <a:rPr lang="en-US" sz="1250" dirty="0">
                <a:solidFill>
                  <a:srgbClr val="E2E8F0"/>
                </a:solidFill>
                <a:latin typeface="Calibri" pitchFamily="34" charset="0"/>
                <a:ea typeface="Calibri" pitchFamily="34" charset="-122"/>
                <a:cs typeface="Calibri" pitchFamily="34" charset="-120"/>
              </a:rPr>
              <a:t>Smartphone conjunctiva photo → AI prediction</a:t>
            </a:r>
            <a:endParaRPr lang="en-US" sz="1250" dirty="0"/>
          </a:p>
          <a:p>
            <a:pPr marL="342900" indent="-342900">
              <a:spcAft>
                <a:spcPts val="600"/>
              </a:spcAft>
              <a:buSzPct val="100000"/>
              <a:buChar char="•"/>
            </a:pPr>
            <a:r>
              <a:rPr lang="en-US" sz="1250" dirty="0">
                <a:solidFill>
                  <a:srgbClr val="E2E8F0"/>
                </a:solidFill>
                <a:latin typeface="Calibri" pitchFamily="34" charset="0"/>
                <a:ea typeface="Calibri" pitchFamily="34" charset="-122"/>
                <a:cs typeface="Calibri" pitchFamily="34" charset="-120"/>
              </a:rPr>
              <a:t>Clinical blood parameter analysis via ML</a:t>
            </a:r>
            <a:endParaRPr lang="en-US" sz="1250" dirty="0"/>
          </a:p>
          <a:p>
            <a:pPr marL="342900" indent="-342900">
              <a:spcAft>
                <a:spcPts val="600"/>
              </a:spcAft>
              <a:buSzPct val="100000"/>
              <a:buChar char="•"/>
            </a:pPr>
            <a:r>
              <a:rPr lang="en-US" sz="1250" dirty="0">
                <a:solidFill>
                  <a:srgbClr val="E2E8F0"/>
                </a:solidFill>
                <a:latin typeface="Calibri" pitchFamily="34" charset="0"/>
                <a:ea typeface="Calibri" pitchFamily="34" charset="-122"/>
                <a:cs typeface="Calibri" pitchFamily="34" charset="-120"/>
              </a:rPr>
              <a:t>NFHS-5 geo-risk contextualisation</a:t>
            </a:r>
            <a:endParaRPr lang="en-US" sz="1250" dirty="0"/>
          </a:p>
          <a:p>
            <a:pPr marL="342900" indent="-342900">
              <a:spcAft>
                <a:spcPts val="600"/>
              </a:spcAft>
              <a:buSzPct val="100000"/>
              <a:buChar char="•"/>
            </a:pPr>
            <a:r>
              <a:rPr lang="en-US" sz="1250" dirty="0">
                <a:solidFill>
                  <a:srgbClr val="E2E8F0"/>
                </a:solidFill>
                <a:latin typeface="Calibri" pitchFamily="34" charset="0"/>
                <a:ea typeface="Calibri" pitchFamily="34" charset="-122"/>
                <a:cs typeface="Calibri" pitchFamily="34" charset="-120"/>
              </a:rPr>
              <a:t>Sub-second result, no lab needed</a:t>
            </a:r>
            <a:endParaRPr lang="en-US" sz="1250" dirty="0"/>
          </a:p>
        </p:txBody>
      </p:sp>
      <p:sp>
        <p:nvSpPr>
          <p:cNvPr id="24" name="Text 21"/>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Bhautik Gondaliya  ·  AnemiaFusionNet  ·  2/10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365760" y="228600"/>
            <a:ext cx="1463040" cy="256032"/>
          </a:xfrm>
          <a:prstGeom prst="roundRect">
            <a:avLst>
              <a:gd name="adj" fmla="val 21429"/>
            </a:avLst>
          </a:prstGeom>
          <a:solidFill>
            <a:srgbClr val="8B5CF6"/>
          </a:solidFill>
          <a:ln/>
        </p:spPr>
      </p:sp>
      <p:sp>
        <p:nvSpPr>
          <p:cNvPr id="3" name="Text 1"/>
          <p:cNvSpPr/>
          <p:nvPr/>
        </p:nvSpPr>
        <p:spPr>
          <a:xfrm>
            <a:off x="365760" y="228600"/>
            <a:ext cx="14630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ARCHITECTURE</a:t>
            </a:r>
            <a:endParaRPr lang="en-US" sz="900" dirty="0"/>
          </a:p>
        </p:txBody>
      </p:sp>
      <p:sp>
        <p:nvSpPr>
          <p:cNvPr id="4" name="Text 2"/>
          <p:cNvSpPr/>
          <p:nvPr/>
        </p:nvSpPr>
        <p:spPr>
          <a:xfrm>
            <a:off x="365760" y="566928"/>
            <a:ext cx="841248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AnemiaFusionNet — System Architecture</a:t>
            </a:r>
            <a:endParaRPr lang="en-US" sz="3000" dirty="0"/>
          </a:p>
        </p:txBody>
      </p:sp>
      <p:sp>
        <p:nvSpPr>
          <p:cNvPr id="5" name="Shape 3"/>
          <p:cNvSpPr/>
          <p:nvPr/>
        </p:nvSpPr>
        <p:spPr>
          <a:xfrm>
            <a:off x="274320" y="1261872"/>
            <a:ext cx="1993392" cy="2468880"/>
          </a:xfrm>
          <a:prstGeom prst="roundRect">
            <a:avLst>
              <a:gd name="adj" fmla="val 5505"/>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6" name="Shape 4"/>
          <p:cNvSpPr/>
          <p:nvPr/>
        </p:nvSpPr>
        <p:spPr>
          <a:xfrm>
            <a:off x="950976" y="1325880"/>
            <a:ext cx="640080" cy="640080"/>
          </a:xfrm>
          <a:prstGeom prst="oval">
            <a:avLst/>
          </a:prstGeom>
          <a:solidFill>
            <a:srgbClr val="06B6D4">
              <a:alpha val="20000"/>
            </a:srgbClr>
          </a:solidFill>
          <a:ln w="6350">
            <a:solidFill>
              <a:srgbClr val="06B6D4"/>
            </a:solidFill>
            <a:prstDash val="solid"/>
          </a:ln>
        </p:spPr>
      </p:sp>
      <p:pic>
        <p:nvPicPr>
          <p:cNvPr id="7" name="Image 0" descr="preencoded.png">    </p:cNvPr>
          <p:cNvPicPr>
            <a:picLocks noChangeAspect="1"/>
          </p:cNvPicPr>
          <p:nvPr/>
        </p:nvPicPr>
        <p:blipFill>
          <a:blip r:embed="rId1"/>
          <a:stretch>
            <a:fillRect/>
          </a:stretch>
        </p:blipFill>
        <p:spPr>
          <a:xfrm>
            <a:off x="1042416" y="1417320"/>
            <a:ext cx="457200" cy="457200"/>
          </a:xfrm>
          <a:prstGeom prst="rect">
            <a:avLst/>
          </a:prstGeom>
        </p:spPr>
      </p:pic>
      <p:sp>
        <p:nvSpPr>
          <p:cNvPr id="8" name="Text 5"/>
          <p:cNvSpPr/>
          <p:nvPr/>
        </p:nvSpPr>
        <p:spPr>
          <a:xfrm>
            <a:off x="274320" y="2029968"/>
            <a:ext cx="1993392" cy="228600"/>
          </a:xfrm>
          <a:prstGeom prst="rect">
            <a:avLst/>
          </a:prstGeom>
          <a:noFill/>
          <a:ln/>
        </p:spPr>
        <p:txBody>
          <a:bodyPr wrap="square" rtlCol="0" anchor="ctr"/>
          <a:lstStyle/>
          <a:p>
            <a:pPr algn="ctr" indent="0" marL="0">
              <a:buNone/>
            </a:pPr>
            <a:r>
              <a:rPr lang="en-US" sz="900" b="1" dirty="0">
                <a:solidFill>
                  <a:srgbClr val="06B6D4"/>
                </a:solidFill>
                <a:latin typeface="Calibri" pitchFamily="34" charset="0"/>
                <a:ea typeface="Calibri" pitchFamily="34" charset="-122"/>
                <a:cs typeface="Calibri" pitchFamily="34" charset="-120"/>
              </a:rPr>
              <a:t>Module 01</a:t>
            </a:r>
            <a:endParaRPr lang="en-US" sz="900" dirty="0"/>
          </a:p>
        </p:txBody>
      </p:sp>
      <p:sp>
        <p:nvSpPr>
          <p:cNvPr id="9" name="Text 6"/>
          <p:cNvSpPr/>
          <p:nvPr/>
        </p:nvSpPr>
        <p:spPr>
          <a:xfrm>
            <a:off x="274320" y="2231136"/>
            <a:ext cx="1993392" cy="34747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Eye CNN Model</a:t>
            </a:r>
            <a:endParaRPr lang="en-US" sz="1250" dirty="0"/>
          </a:p>
        </p:txBody>
      </p:sp>
      <p:sp>
        <p:nvSpPr>
          <p:cNvPr id="10" name="Text 7"/>
          <p:cNvSpPr/>
          <p:nvPr/>
        </p:nvSpPr>
        <p:spPr>
          <a:xfrm>
            <a:off x="365760" y="2606040"/>
            <a:ext cx="1810512" cy="731520"/>
          </a:xfrm>
          <a:prstGeom prst="rect">
            <a:avLst/>
          </a:prstGeom>
          <a:noFill/>
          <a:ln/>
        </p:spPr>
        <p:txBody>
          <a:bodyPr wrap="square" rtlCol="0" anchor="ctr"/>
          <a:lstStyle/>
          <a:p>
            <a:pPr algn="ctr" indent="0" marL="0">
              <a:buNone/>
            </a:pPr>
            <a:r>
              <a:rPr lang="en-US" sz="950" dirty="0">
                <a:solidFill>
                  <a:srgbClr val="E2E8F0"/>
                </a:solidFill>
                <a:latin typeface="Calibri" pitchFamily="34" charset="0"/>
                <a:ea typeface="Calibri" pitchFamily="34" charset="-122"/>
                <a:cs typeface="Calibri" pitchFamily="34" charset="-120"/>
              </a:rPr>
              <a:t>Conjunctiva images</a:t>
            </a:r>
            <a:endParaRPr lang="en-US" sz="950" dirty="0"/>
          </a:p>
          <a:p>
            <a:pPr algn="ctr" indent="0" marL="0">
              <a:buNone/>
            </a:pPr>
            <a:r>
              <a:rPr lang="en-US" sz="950" dirty="0">
                <a:solidFill>
                  <a:srgbClr val="E2E8F0"/>
                </a:solidFill>
                <a:latin typeface="Calibri" pitchFamily="34" charset="0"/>
                <a:ea typeface="Calibri" pitchFamily="34" charset="-122"/>
                <a:cs typeface="Calibri" pitchFamily="34" charset="-120"/>
              </a:rPr>
              <a:t>224×224 RGB → CNN</a:t>
            </a:r>
            <a:endParaRPr lang="en-US" sz="950" dirty="0"/>
          </a:p>
          <a:p>
            <a:pPr algn="ctr" indent="0" marL="0">
              <a:buNone/>
            </a:pPr>
            <a:r>
              <a:rPr lang="en-US" sz="950" dirty="0">
                <a:solidFill>
                  <a:srgbClr val="E2E8F0"/>
                </a:solidFill>
                <a:latin typeface="Calibri" pitchFamily="34" charset="0"/>
                <a:ea typeface="Calibri" pitchFamily="34" charset="-122"/>
                <a:cs typeface="Calibri" pitchFamily="34" charset="-120"/>
              </a:rPr>
              <a:t>Output: 128-dim vector</a:t>
            </a:r>
            <a:endParaRPr lang="en-US" sz="950" dirty="0"/>
          </a:p>
        </p:txBody>
      </p:sp>
      <p:sp>
        <p:nvSpPr>
          <p:cNvPr id="11" name="Shape 8"/>
          <p:cNvSpPr/>
          <p:nvPr/>
        </p:nvSpPr>
        <p:spPr>
          <a:xfrm>
            <a:off x="493776" y="3383280"/>
            <a:ext cx="1554480" cy="237744"/>
          </a:xfrm>
          <a:prstGeom prst="roundRect">
            <a:avLst>
              <a:gd name="adj" fmla="val 50000"/>
            </a:avLst>
          </a:prstGeom>
          <a:solidFill>
            <a:srgbClr val="10B981">
              <a:alpha val="25000"/>
            </a:srgbClr>
          </a:solidFill>
          <a:ln w="6350">
            <a:solidFill>
              <a:srgbClr val="10B981"/>
            </a:solidFill>
            <a:prstDash val="solid"/>
          </a:ln>
        </p:spPr>
      </p:sp>
      <p:sp>
        <p:nvSpPr>
          <p:cNvPr id="12" name="Text 9"/>
          <p:cNvSpPr/>
          <p:nvPr/>
        </p:nvSpPr>
        <p:spPr>
          <a:xfrm>
            <a:off x="493776" y="3383280"/>
            <a:ext cx="155448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Complete</a:t>
            </a:r>
            <a:endParaRPr lang="en-US" sz="900" dirty="0"/>
          </a:p>
        </p:txBody>
      </p:sp>
      <p:sp>
        <p:nvSpPr>
          <p:cNvPr id="13" name="Shape 10"/>
          <p:cNvSpPr/>
          <p:nvPr/>
        </p:nvSpPr>
        <p:spPr>
          <a:xfrm>
            <a:off x="2450592" y="1261872"/>
            <a:ext cx="1993392" cy="2468880"/>
          </a:xfrm>
          <a:prstGeom prst="roundRect">
            <a:avLst>
              <a:gd name="adj" fmla="val 5505"/>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4" name="Shape 11"/>
          <p:cNvSpPr/>
          <p:nvPr/>
        </p:nvSpPr>
        <p:spPr>
          <a:xfrm>
            <a:off x="3127248" y="1325880"/>
            <a:ext cx="640080" cy="640080"/>
          </a:xfrm>
          <a:prstGeom prst="oval">
            <a:avLst/>
          </a:prstGeom>
          <a:solidFill>
            <a:srgbClr val="10B981">
              <a:alpha val="20000"/>
            </a:srgbClr>
          </a:solidFill>
          <a:ln w="6350">
            <a:solidFill>
              <a:srgbClr val="10B981"/>
            </a:solidFill>
            <a:prstDash val="solid"/>
          </a:ln>
        </p:spPr>
      </p:sp>
      <p:pic>
        <p:nvPicPr>
          <p:cNvPr id="15" name="Image 1" descr="preencoded.png">    </p:cNvPr>
          <p:cNvPicPr>
            <a:picLocks noChangeAspect="1"/>
          </p:cNvPicPr>
          <p:nvPr/>
        </p:nvPicPr>
        <p:blipFill>
          <a:blip r:embed="rId2"/>
          <a:stretch>
            <a:fillRect/>
          </a:stretch>
        </p:blipFill>
        <p:spPr>
          <a:xfrm>
            <a:off x="3218688" y="1417320"/>
            <a:ext cx="457200" cy="457200"/>
          </a:xfrm>
          <a:prstGeom prst="rect">
            <a:avLst/>
          </a:prstGeom>
        </p:spPr>
      </p:pic>
      <p:sp>
        <p:nvSpPr>
          <p:cNvPr id="16" name="Text 12"/>
          <p:cNvSpPr/>
          <p:nvPr/>
        </p:nvSpPr>
        <p:spPr>
          <a:xfrm>
            <a:off x="2450592" y="2029968"/>
            <a:ext cx="1993392" cy="228600"/>
          </a:xfrm>
          <a:prstGeom prst="rect">
            <a:avLst/>
          </a:prstGeom>
          <a:noFill/>
          <a:ln/>
        </p:spPr>
        <p:txBody>
          <a:bodyPr wrap="square" rtlCol="0" anchor="ctr"/>
          <a:lstStyle/>
          <a:p>
            <a:pPr algn="ctr" indent="0" marL="0">
              <a:buNone/>
            </a:pPr>
            <a:r>
              <a:rPr lang="en-US" sz="900" b="1" dirty="0">
                <a:solidFill>
                  <a:srgbClr val="10B981"/>
                </a:solidFill>
                <a:latin typeface="Calibri" pitchFamily="34" charset="0"/>
                <a:ea typeface="Calibri" pitchFamily="34" charset="-122"/>
                <a:cs typeface="Calibri" pitchFamily="34" charset="-120"/>
              </a:rPr>
              <a:t>Module 02</a:t>
            </a:r>
            <a:endParaRPr lang="en-US" sz="900" dirty="0"/>
          </a:p>
        </p:txBody>
      </p:sp>
      <p:sp>
        <p:nvSpPr>
          <p:cNvPr id="17" name="Text 13"/>
          <p:cNvSpPr/>
          <p:nvPr/>
        </p:nvSpPr>
        <p:spPr>
          <a:xfrm>
            <a:off x="2450592" y="2231136"/>
            <a:ext cx="1993392" cy="34747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Clinical ML Model</a:t>
            </a:r>
            <a:endParaRPr lang="en-US" sz="1250" dirty="0"/>
          </a:p>
        </p:txBody>
      </p:sp>
      <p:sp>
        <p:nvSpPr>
          <p:cNvPr id="18" name="Text 14"/>
          <p:cNvSpPr/>
          <p:nvPr/>
        </p:nvSpPr>
        <p:spPr>
          <a:xfrm>
            <a:off x="2542032" y="2606040"/>
            <a:ext cx="1810512" cy="731520"/>
          </a:xfrm>
          <a:prstGeom prst="rect">
            <a:avLst/>
          </a:prstGeom>
          <a:noFill/>
          <a:ln/>
        </p:spPr>
        <p:txBody>
          <a:bodyPr wrap="square" rtlCol="0" anchor="ctr"/>
          <a:lstStyle/>
          <a:p>
            <a:pPr algn="ctr" indent="0" marL="0">
              <a:buNone/>
            </a:pPr>
            <a:r>
              <a:rPr lang="en-US" sz="950" dirty="0">
                <a:solidFill>
                  <a:srgbClr val="E2E8F0"/>
                </a:solidFill>
                <a:latin typeface="Calibri" pitchFamily="34" charset="0"/>
                <a:ea typeface="Calibri" pitchFamily="34" charset="-122"/>
                <a:cs typeface="Calibri" pitchFamily="34" charset="-120"/>
              </a:rPr>
              <a:t>35 features + 7 eng.</a:t>
            </a:r>
            <a:endParaRPr lang="en-US" sz="950" dirty="0"/>
          </a:p>
          <a:p>
            <a:pPr algn="ctr" indent="0" marL="0">
              <a:buNone/>
            </a:pPr>
            <a:r>
              <a:rPr lang="en-US" sz="950" dirty="0">
                <a:solidFill>
                  <a:srgbClr val="E2E8F0"/>
                </a:solidFill>
                <a:latin typeface="Calibri" pitchFamily="34" charset="0"/>
                <a:ea typeface="Calibri" pitchFamily="34" charset="-122"/>
                <a:cs typeface="Calibri" pitchFamily="34" charset="-120"/>
              </a:rPr>
              <a:t>RandomForest / XGBoost</a:t>
            </a:r>
            <a:endParaRPr lang="en-US" sz="950" dirty="0"/>
          </a:p>
          <a:p>
            <a:pPr algn="ctr" indent="0" marL="0">
              <a:buNone/>
            </a:pPr>
            <a:r>
              <a:rPr lang="en-US" sz="950" dirty="0">
                <a:solidFill>
                  <a:srgbClr val="E2E8F0"/>
                </a:solidFill>
                <a:latin typeface="Calibri" pitchFamily="34" charset="0"/>
                <a:ea typeface="Calibri" pitchFamily="34" charset="-122"/>
                <a:cs typeface="Calibri" pitchFamily="34" charset="-120"/>
              </a:rPr>
              <a:t>Output: 64-dim vector</a:t>
            </a:r>
            <a:endParaRPr lang="en-US" sz="950" dirty="0"/>
          </a:p>
        </p:txBody>
      </p:sp>
      <p:sp>
        <p:nvSpPr>
          <p:cNvPr id="19" name="Shape 15"/>
          <p:cNvSpPr/>
          <p:nvPr/>
        </p:nvSpPr>
        <p:spPr>
          <a:xfrm>
            <a:off x="2670048" y="3383280"/>
            <a:ext cx="1554480" cy="237744"/>
          </a:xfrm>
          <a:prstGeom prst="roundRect">
            <a:avLst>
              <a:gd name="adj" fmla="val 50000"/>
            </a:avLst>
          </a:prstGeom>
          <a:solidFill>
            <a:srgbClr val="10B981">
              <a:alpha val="25000"/>
            </a:srgbClr>
          </a:solidFill>
          <a:ln w="6350">
            <a:solidFill>
              <a:srgbClr val="10B981"/>
            </a:solidFill>
            <a:prstDash val="solid"/>
          </a:ln>
        </p:spPr>
      </p:sp>
      <p:sp>
        <p:nvSpPr>
          <p:cNvPr id="20" name="Text 16"/>
          <p:cNvSpPr/>
          <p:nvPr/>
        </p:nvSpPr>
        <p:spPr>
          <a:xfrm>
            <a:off x="2670048" y="3383280"/>
            <a:ext cx="155448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Complete</a:t>
            </a:r>
            <a:endParaRPr lang="en-US" sz="900" dirty="0"/>
          </a:p>
        </p:txBody>
      </p:sp>
      <p:sp>
        <p:nvSpPr>
          <p:cNvPr id="21" name="Shape 17"/>
          <p:cNvSpPr/>
          <p:nvPr/>
        </p:nvSpPr>
        <p:spPr>
          <a:xfrm>
            <a:off x="4626864" y="1261872"/>
            <a:ext cx="1993392" cy="2468880"/>
          </a:xfrm>
          <a:prstGeom prst="roundRect">
            <a:avLst>
              <a:gd name="adj" fmla="val 5505"/>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22" name="Shape 18"/>
          <p:cNvSpPr/>
          <p:nvPr/>
        </p:nvSpPr>
        <p:spPr>
          <a:xfrm>
            <a:off x="5303520" y="1325880"/>
            <a:ext cx="640080" cy="640080"/>
          </a:xfrm>
          <a:prstGeom prst="oval">
            <a:avLst/>
          </a:prstGeom>
          <a:solidFill>
            <a:srgbClr val="F59E0B">
              <a:alpha val="20000"/>
            </a:srgbClr>
          </a:solidFill>
          <a:ln w="6350">
            <a:solidFill>
              <a:srgbClr val="F59E0B"/>
            </a:solidFill>
            <a:prstDash val="solid"/>
          </a:ln>
        </p:spPr>
      </p:sp>
      <p:pic>
        <p:nvPicPr>
          <p:cNvPr id="23" name="Image 2" descr="preencoded.png">    </p:cNvPr>
          <p:cNvPicPr>
            <a:picLocks noChangeAspect="1"/>
          </p:cNvPicPr>
          <p:nvPr/>
        </p:nvPicPr>
        <p:blipFill>
          <a:blip r:embed="rId3"/>
          <a:stretch>
            <a:fillRect/>
          </a:stretch>
        </p:blipFill>
        <p:spPr>
          <a:xfrm>
            <a:off x="5394960" y="1417320"/>
            <a:ext cx="457200" cy="457200"/>
          </a:xfrm>
          <a:prstGeom prst="rect">
            <a:avLst/>
          </a:prstGeom>
        </p:spPr>
      </p:pic>
      <p:sp>
        <p:nvSpPr>
          <p:cNvPr id="24" name="Text 19"/>
          <p:cNvSpPr/>
          <p:nvPr/>
        </p:nvSpPr>
        <p:spPr>
          <a:xfrm>
            <a:off x="4626864" y="2029968"/>
            <a:ext cx="1993392" cy="22860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Module 03</a:t>
            </a:r>
            <a:endParaRPr lang="en-US" sz="900" dirty="0"/>
          </a:p>
        </p:txBody>
      </p:sp>
      <p:sp>
        <p:nvSpPr>
          <p:cNvPr id="25" name="Text 20"/>
          <p:cNvSpPr/>
          <p:nvPr/>
        </p:nvSpPr>
        <p:spPr>
          <a:xfrm>
            <a:off x="4626864" y="2231136"/>
            <a:ext cx="1993392" cy="34747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Geo-Risk Module</a:t>
            </a:r>
            <a:endParaRPr lang="en-US" sz="1250" dirty="0"/>
          </a:p>
        </p:txBody>
      </p:sp>
      <p:sp>
        <p:nvSpPr>
          <p:cNvPr id="26" name="Text 21"/>
          <p:cNvSpPr/>
          <p:nvPr/>
        </p:nvSpPr>
        <p:spPr>
          <a:xfrm>
            <a:off x="4718304" y="2606040"/>
            <a:ext cx="1810512" cy="731520"/>
          </a:xfrm>
          <a:prstGeom prst="rect">
            <a:avLst/>
          </a:prstGeom>
          <a:noFill/>
          <a:ln/>
        </p:spPr>
        <p:txBody>
          <a:bodyPr wrap="square" rtlCol="0" anchor="ctr"/>
          <a:lstStyle/>
          <a:p>
            <a:pPr algn="ctr" indent="0" marL="0">
              <a:buNone/>
            </a:pPr>
            <a:r>
              <a:rPr lang="en-US" sz="950" dirty="0">
                <a:solidFill>
                  <a:srgbClr val="E2E8F0"/>
                </a:solidFill>
                <a:latin typeface="Calibri" pitchFamily="34" charset="0"/>
                <a:ea typeface="Calibri" pitchFamily="34" charset="-122"/>
                <a:cs typeface="Calibri" pitchFamily="34" charset="-120"/>
              </a:rPr>
              <a:t>NFHS-5 state data</a:t>
            </a:r>
            <a:endParaRPr lang="en-US" sz="950" dirty="0"/>
          </a:p>
          <a:p>
            <a:pPr algn="ctr" indent="0" marL="0">
              <a:buNone/>
            </a:pPr>
            <a:r>
              <a:rPr lang="en-US" sz="950" dirty="0">
                <a:solidFill>
                  <a:srgbClr val="E2E8F0"/>
                </a:solidFill>
                <a:latin typeface="Calibri" pitchFamily="34" charset="0"/>
                <a:ea typeface="Calibri" pitchFamily="34" charset="-122"/>
                <a:cs typeface="Calibri" pitchFamily="34" charset="-120"/>
              </a:rPr>
              <a:t>Prevalence lookup</a:t>
            </a:r>
            <a:endParaRPr lang="en-US" sz="950" dirty="0"/>
          </a:p>
          <a:p>
            <a:pPr algn="ctr" indent="0" marL="0">
              <a:buNone/>
            </a:pPr>
            <a:r>
              <a:rPr lang="en-US" sz="950" dirty="0">
                <a:solidFill>
                  <a:srgbClr val="E2E8F0"/>
                </a:solidFill>
                <a:latin typeface="Calibri" pitchFamily="34" charset="0"/>
                <a:ea typeface="Calibri" pitchFamily="34" charset="-122"/>
                <a:cs typeface="Calibri" pitchFamily="34" charset="-120"/>
              </a:rPr>
              <a:t>Output: risk weight</a:t>
            </a:r>
            <a:endParaRPr lang="en-US" sz="950" dirty="0"/>
          </a:p>
        </p:txBody>
      </p:sp>
      <p:sp>
        <p:nvSpPr>
          <p:cNvPr id="27" name="Shape 22"/>
          <p:cNvSpPr/>
          <p:nvPr/>
        </p:nvSpPr>
        <p:spPr>
          <a:xfrm>
            <a:off x="4846320" y="3383280"/>
            <a:ext cx="1554480" cy="237744"/>
          </a:xfrm>
          <a:prstGeom prst="roundRect">
            <a:avLst>
              <a:gd name="adj" fmla="val 50000"/>
            </a:avLst>
          </a:prstGeom>
          <a:solidFill>
            <a:srgbClr val="F59E0B">
              <a:alpha val="25000"/>
            </a:srgbClr>
          </a:solidFill>
          <a:ln w="6350">
            <a:solidFill>
              <a:srgbClr val="F59E0B"/>
            </a:solidFill>
            <a:prstDash val="solid"/>
          </a:ln>
        </p:spPr>
      </p:sp>
      <p:sp>
        <p:nvSpPr>
          <p:cNvPr id="28" name="Text 23"/>
          <p:cNvSpPr/>
          <p:nvPr/>
        </p:nvSpPr>
        <p:spPr>
          <a:xfrm>
            <a:off x="4846320" y="3383280"/>
            <a:ext cx="155448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Planned</a:t>
            </a:r>
            <a:endParaRPr lang="en-US" sz="900" dirty="0"/>
          </a:p>
        </p:txBody>
      </p:sp>
      <p:sp>
        <p:nvSpPr>
          <p:cNvPr id="29" name="Shape 24"/>
          <p:cNvSpPr/>
          <p:nvPr/>
        </p:nvSpPr>
        <p:spPr>
          <a:xfrm>
            <a:off x="6803136" y="1261872"/>
            <a:ext cx="1993392" cy="2468880"/>
          </a:xfrm>
          <a:prstGeom prst="roundRect">
            <a:avLst>
              <a:gd name="adj" fmla="val 5505"/>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30" name="Shape 25"/>
          <p:cNvSpPr/>
          <p:nvPr/>
        </p:nvSpPr>
        <p:spPr>
          <a:xfrm>
            <a:off x="7479792" y="1325880"/>
            <a:ext cx="640080" cy="640080"/>
          </a:xfrm>
          <a:prstGeom prst="oval">
            <a:avLst/>
          </a:prstGeom>
          <a:solidFill>
            <a:srgbClr val="8B5CF6">
              <a:alpha val="20000"/>
            </a:srgbClr>
          </a:solidFill>
          <a:ln w="6350">
            <a:solidFill>
              <a:srgbClr val="8B5CF6"/>
            </a:solidFill>
            <a:prstDash val="solid"/>
          </a:ln>
        </p:spPr>
      </p:sp>
      <p:pic>
        <p:nvPicPr>
          <p:cNvPr id="31" name="Image 3" descr="preencoded.png">    </p:cNvPr>
          <p:cNvPicPr>
            <a:picLocks noChangeAspect="1"/>
          </p:cNvPicPr>
          <p:nvPr/>
        </p:nvPicPr>
        <p:blipFill>
          <a:blip r:embed="rId4"/>
          <a:stretch>
            <a:fillRect/>
          </a:stretch>
        </p:blipFill>
        <p:spPr>
          <a:xfrm>
            <a:off x="7571232" y="1417320"/>
            <a:ext cx="457200" cy="457200"/>
          </a:xfrm>
          <a:prstGeom prst="rect">
            <a:avLst/>
          </a:prstGeom>
        </p:spPr>
      </p:pic>
      <p:sp>
        <p:nvSpPr>
          <p:cNvPr id="32" name="Text 26"/>
          <p:cNvSpPr/>
          <p:nvPr/>
        </p:nvSpPr>
        <p:spPr>
          <a:xfrm>
            <a:off x="6803136" y="2029968"/>
            <a:ext cx="1993392" cy="228600"/>
          </a:xfrm>
          <a:prstGeom prst="rect">
            <a:avLst/>
          </a:prstGeom>
          <a:noFill/>
          <a:ln/>
        </p:spPr>
        <p:txBody>
          <a:bodyPr wrap="square" rtlCol="0" anchor="ctr"/>
          <a:lstStyle/>
          <a:p>
            <a:pPr algn="ctr" indent="0" marL="0">
              <a:buNone/>
            </a:pPr>
            <a:r>
              <a:rPr lang="en-US" sz="900" b="1" dirty="0">
                <a:solidFill>
                  <a:srgbClr val="8B5CF6"/>
                </a:solidFill>
                <a:latin typeface="Calibri" pitchFamily="34" charset="0"/>
                <a:ea typeface="Calibri" pitchFamily="34" charset="-122"/>
                <a:cs typeface="Calibri" pitchFamily="34" charset="-120"/>
              </a:rPr>
              <a:t>Module 04</a:t>
            </a:r>
            <a:endParaRPr lang="en-US" sz="900" dirty="0"/>
          </a:p>
        </p:txBody>
      </p:sp>
      <p:sp>
        <p:nvSpPr>
          <p:cNvPr id="33" name="Text 27"/>
          <p:cNvSpPr/>
          <p:nvPr/>
        </p:nvSpPr>
        <p:spPr>
          <a:xfrm>
            <a:off x="6803136" y="2231136"/>
            <a:ext cx="1993392" cy="34747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Transformer Fusion</a:t>
            </a:r>
            <a:endParaRPr lang="en-US" sz="1250" dirty="0"/>
          </a:p>
        </p:txBody>
      </p:sp>
      <p:sp>
        <p:nvSpPr>
          <p:cNvPr id="34" name="Text 28"/>
          <p:cNvSpPr/>
          <p:nvPr/>
        </p:nvSpPr>
        <p:spPr>
          <a:xfrm>
            <a:off x="6894576" y="2606040"/>
            <a:ext cx="1810512" cy="731520"/>
          </a:xfrm>
          <a:prstGeom prst="rect">
            <a:avLst/>
          </a:prstGeom>
          <a:noFill/>
          <a:ln/>
        </p:spPr>
        <p:txBody>
          <a:bodyPr wrap="square" rtlCol="0" anchor="ctr"/>
          <a:lstStyle/>
          <a:p>
            <a:pPr algn="ctr" indent="0" marL="0">
              <a:buNone/>
            </a:pPr>
            <a:r>
              <a:rPr lang="en-US" sz="950" dirty="0">
                <a:solidFill>
                  <a:srgbClr val="E2E8F0"/>
                </a:solidFill>
                <a:latin typeface="Calibri" pitchFamily="34" charset="0"/>
                <a:ea typeface="Calibri" pitchFamily="34" charset="-122"/>
                <a:cs typeface="Calibri" pitchFamily="34" charset="-120"/>
              </a:rPr>
              <a:t>Concat → Attention</a:t>
            </a:r>
            <a:endParaRPr lang="en-US" sz="950" dirty="0"/>
          </a:p>
          <a:p>
            <a:pPr algn="ctr" indent="0" marL="0">
              <a:buNone/>
            </a:pPr>
            <a:r>
              <a:rPr lang="en-US" sz="950" dirty="0">
                <a:solidFill>
                  <a:srgbClr val="E2E8F0"/>
                </a:solidFill>
                <a:latin typeface="Calibri" pitchFamily="34" charset="0"/>
                <a:ea typeface="Calibri" pitchFamily="34" charset="-122"/>
                <a:cs typeface="Calibri" pitchFamily="34" charset="-120"/>
              </a:rPr>
              <a:t>Feed-Forward layer</a:t>
            </a:r>
            <a:endParaRPr lang="en-US" sz="950" dirty="0"/>
          </a:p>
          <a:p>
            <a:pPr algn="ctr" indent="0" marL="0">
              <a:buNone/>
            </a:pPr>
            <a:r>
              <a:rPr lang="en-US" sz="950" dirty="0">
                <a:solidFill>
                  <a:srgbClr val="E2E8F0"/>
                </a:solidFill>
                <a:latin typeface="Calibri" pitchFamily="34" charset="0"/>
                <a:ea typeface="Calibri" pitchFamily="34" charset="-122"/>
                <a:cs typeface="Calibri" pitchFamily="34" charset="-120"/>
              </a:rPr>
              <a:t>Output: Final class</a:t>
            </a:r>
            <a:endParaRPr lang="en-US" sz="950" dirty="0"/>
          </a:p>
        </p:txBody>
      </p:sp>
      <p:sp>
        <p:nvSpPr>
          <p:cNvPr id="35" name="Shape 29"/>
          <p:cNvSpPr/>
          <p:nvPr/>
        </p:nvSpPr>
        <p:spPr>
          <a:xfrm>
            <a:off x="7022592" y="3383280"/>
            <a:ext cx="1554480" cy="237744"/>
          </a:xfrm>
          <a:prstGeom prst="roundRect">
            <a:avLst>
              <a:gd name="adj" fmla="val 50000"/>
            </a:avLst>
          </a:prstGeom>
          <a:solidFill>
            <a:srgbClr val="F59E0B">
              <a:alpha val="25000"/>
            </a:srgbClr>
          </a:solidFill>
          <a:ln w="6350">
            <a:solidFill>
              <a:srgbClr val="F59E0B"/>
            </a:solidFill>
            <a:prstDash val="solid"/>
          </a:ln>
        </p:spPr>
      </p:sp>
      <p:sp>
        <p:nvSpPr>
          <p:cNvPr id="36" name="Text 30"/>
          <p:cNvSpPr/>
          <p:nvPr/>
        </p:nvSpPr>
        <p:spPr>
          <a:xfrm>
            <a:off x="7022592" y="3383280"/>
            <a:ext cx="1554480" cy="237744"/>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 Planned</a:t>
            </a:r>
            <a:endParaRPr lang="en-US" sz="900" dirty="0"/>
          </a:p>
        </p:txBody>
      </p:sp>
      <p:sp>
        <p:nvSpPr>
          <p:cNvPr id="37" name="Shape 31"/>
          <p:cNvSpPr/>
          <p:nvPr/>
        </p:nvSpPr>
        <p:spPr>
          <a:xfrm>
            <a:off x="2267712" y="2496312"/>
            <a:ext cx="182880" cy="0"/>
          </a:xfrm>
          <a:prstGeom prst="line">
            <a:avLst/>
          </a:prstGeom>
          <a:noFill/>
          <a:ln w="12700">
            <a:solidFill>
              <a:srgbClr val="94A3B8"/>
            </a:solidFill>
            <a:prstDash val="solid"/>
          </a:ln>
        </p:spPr>
      </p:sp>
      <p:sp>
        <p:nvSpPr>
          <p:cNvPr id="38" name="Shape 32"/>
          <p:cNvSpPr/>
          <p:nvPr/>
        </p:nvSpPr>
        <p:spPr>
          <a:xfrm>
            <a:off x="4443984" y="2496312"/>
            <a:ext cx="182880" cy="0"/>
          </a:xfrm>
          <a:prstGeom prst="line">
            <a:avLst/>
          </a:prstGeom>
          <a:noFill/>
          <a:ln w="12700">
            <a:solidFill>
              <a:srgbClr val="94A3B8"/>
            </a:solidFill>
            <a:prstDash val="solid"/>
          </a:ln>
        </p:spPr>
      </p:sp>
      <p:sp>
        <p:nvSpPr>
          <p:cNvPr id="39" name="Shape 33"/>
          <p:cNvSpPr/>
          <p:nvPr/>
        </p:nvSpPr>
        <p:spPr>
          <a:xfrm>
            <a:off x="6620256" y="2496312"/>
            <a:ext cx="182880" cy="0"/>
          </a:xfrm>
          <a:prstGeom prst="line">
            <a:avLst/>
          </a:prstGeom>
          <a:noFill/>
          <a:ln w="12700">
            <a:solidFill>
              <a:srgbClr val="94A3B8"/>
            </a:solidFill>
            <a:prstDash val="solid"/>
          </a:ln>
        </p:spPr>
      </p:sp>
      <p:sp>
        <p:nvSpPr>
          <p:cNvPr id="40" name="Shape 34"/>
          <p:cNvSpPr/>
          <p:nvPr/>
        </p:nvSpPr>
        <p:spPr>
          <a:xfrm>
            <a:off x="731520" y="3767328"/>
            <a:ext cx="7680960" cy="804672"/>
          </a:xfrm>
          <a:prstGeom prst="roundRect">
            <a:avLst>
              <a:gd name="adj" fmla="val 13636"/>
            </a:avLst>
          </a:prstGeom>
          <a:solidFill>
            <a:srgbClr val="1A2744"/>
          </a:solidFill>
          <a:ln w="6350">
            <a:solidFill>
              <a:srgbClr val="1E3A5F"/>
            </a:solidFill>
            <a:prstDash val="solid"/>
          </a:ln>
          <a:effectLst>
            <a:outerShdw sx="100000" sy="100000" kx="0" ky="0" algn="bl" rotWithShape="0" blurRad="127000" dist="38100" dir="2700000">
              <a:srgbClr val="000000">
                <a:alpha val="30000"/>
              </a:srgbClr>
            </a:outerShdw>
          </a:effectLst>
        </p:spPr>
      </p:sp>
      <p:pic>
        <p:nvPicPr>
          <p:cNvPr id="41" name="Image 4" descr="preencoded.png">    </p:cNvPr>
          <p:cNvPicPr>
            <a:picLocks noChangeAspect="1"/>
          </p:cNvPicPr>
          <p:nvPr/>
        </p:nvPicPr>
        <p:blipFill>
          <a:blip r:embed="rId5"/>
          <a:stretch>
            <a:fillRect/>
          </a:stretch>
        </p:blipFill>
        <p:spPr>
          <a:xfrm>
            <a:off x="914400" y="3858768"/>
            <a:ext cx="411480" cy="411480"/>
          </a:xfrm>
          <a:prstGeom prst="rect">
            <a:avLst/>
          </a:prstGeom>
        </p:spPr>
      </p:pic>
      <p:sp>
        <p:nvSpPr>
          <p:cNvPr id="42" name="Text 35"/>
          <p:cNvSpPr/>
          <p:nvPr/>
        </p:nvSpPr>
        <p:spPr>
          <a:xfrm>
            <a:off x="1417320" y="3840480"/>
            <a:ext cx="1828800" cy="256032"/>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FINAL OUTPUT</a:t>
            </a:r>
            <a:endParaRPr lang="en-US" sz="1000" dirty="0"/>
          </a:p>
        </p:txBody>
      </p:sp>
      <p:sp>
        <p:nvSpPr>
          <p:cNvPr id="43" name="Text 36"/>
          <p:cNvSpPr/>
          <p:nvPr/>
        </p:nvSpPr>
        <p:spPr>
          <a:xfrm>
            <a:off x="1417320" y="4114800"/>
            <a:ext cx="6766560" cy="347472"/>
          </a:xfrm>
          <a:prstGeom prst="rect">
            <a:avLst/>
          </a:prstGeom>
          <a:noFill/>
          <a:ln/>
        </p:spPr>
        <p:txBody>
          <a:bodyPr wrap="square"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  Anemic   </a:t>
            </a:r>
            <a:pPr indent="0" marL="0">
              <a:buNone/>
            </a:pPr>
            <a:r>
              <a:rPr lang="en-US" sz="1400" dirty="0">
                <a:solidFill>
                  <a:srgbClr val="94A3B8"/>
                </a:solidFill>
                <a:latin typeface="Calibri" pitchFamily="34" charset="0"/>
                <a:ea typeface="Calibri" pitchFamily="34" charset="-122"/>
                <a:cs typeface="Calibri" pitchFamily="34" charset="-120"/>
              </a:rPr>
              <a:t>  |  </a:t>
            </a:r>
            <a:pPr indent="0" marL="0">
              <a:buNone/>
            </a:pPr>
            <a:r>
              <a:rPr lang="en-US" sz="1400" b="1" dirty="0">
                <a:solidFill>
                  <a:srgbClr val="10B981"/>
                </a:solidFill>
                <a:latin typeface="Calibri" pitchFamily="34" charset="0"/>
                <a:ea typeface="Calibri" pitchFamily="34" charset="-122"/>
                <a:cs typeface="Calibri" pitchFamily="34" charset="-120"/>
              </a:rPr>
              <a:t>  🟢  Non-Anemic</a:t>
            </a:r>
            <a:pPr indent="0" marL="0">
              <a:buNone/>
            </a:pPr>
            <a:r>
              <a:rPr lang="en-US" sz="1400" dirty="0">
                <a:solidFill>
                  <a:srgbClr val="E2E8F0"/>
                </a:solidFill>
                <a:latin typeface="Calibri" pitchFamily="34" charset="0"/>
                <a:ea typeface="Calibri" pitchFamily="34" charset="-122"/>
                <a:cs typeface="Calibri" pitchFamily="34" charset="-120"/>
              </a:rPr>
              <a:t>  +  Confidence Score  +  Clinical Recommendation</a:t>
            </a:r>
            <a:endParaRPr lang="en-US" sz="1400" dirty="0"/>
          </a:p>
        </p:txBody>
      </p:sp>
      <p:sp>
        <p:nvSpPr>
          <p:cNvPr id="45" name="Text 37"/>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Bhautik Gondaliya  ·  AnemiaFusionNet  ·  3/10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365760" y="228600"/>
            <a:ext cx="1463040" cy="256032"/>
          </a:xfrm>
          <a:prstGeom prst="roundRect">
            <a:avLst>
              <a:gd name="adj" fmla="val 21429"/>
            </a:avLst>
          </a:prstGeom>
          <a:solidFill>
            <a:srgbClr val="06B6D4"/>
          </a:solidFill>
          <a:ln/>
        </p:spPr>
      </p:sp>
      <p:sp>
        <p:nvSpPr>
          <p:cNvPr id="3" name="Text 1"/>
          <p:cNvSpPr/>
          <p:nvPr/>
        </p:nvSpPr>
        <p:spPr>
          <a:xfrm>
            <a:off x="365760" y="228600"/>
            <a:ext cx="14630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WORKFLOW</a:t>
            </a:r>
            <a:endParaRPr lang="en-US" sz="900" dirty="0"/>
          </a:p>
        </p:txBody>
      </p:sp>
      <p:sp>
        <p:nvSpPr>
          <p:cNvPr id="4" name="Text 2"/>
          <p:cNvSpPr/>
          <p:nvPr/>
        </p:nvSpPr>
        <p:spPr>
          <a:xfrm>
            <a:off x="365760" y="566928"/>
            <a:ext cx="841248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10-Step Project Pipeline</a:t>
            </a:r>
            <a:endParaRPr lang="en-US" sz="3000" dirty="0"/>
          </a:p>
        </p:txBody>
      </p:sp>
      <p:sp>
        <p:nvSpPr>
          <p:cNvPr id="5" name="Shape 3"/>
          <p:cNvSpPr/>
          <p:nvPr/>
        </p:nvSpPr>
        <p:spPr>
          <a:xfrm>
            <a:off x="320040" y="1234440"/>
            <a:ext cx="4160520" cy="621792"/>
          </a:xfrm>
          <a:prstGeom prst="roundRect">
            <a:avLst>
              <a:gd name="adj" fmla="val 1764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6" name="Shape 4"/>
          <p:cNvSpPr/>
          <p:nvPr/>
        </p:nvSpPr>
        <p:spPr>
          <a:xfrm>
            <a:off x="411480" y="1316736"/>
            <a:ext cx="457200" cy="457200"/>
          </a:xfrm>
          <a:prstGeom prst="oval">
            <a:avLst/>
          </a:prstGeom>
          <a:solidFill>
            <a:srgbClr val="3B82F6">
              <a:alpha val="25000"/>
            </a:srgbClr>
          </a:solidFill>
          <a:ln w="10160">
            <a:solidFill>
              <a:srgbClr val="3B82F6"/>
            </a:solidFill>
            <a:prstDash val="solid"/>
          </a:ln>
        </p:spPr>
      </p:sp>
      <p:sp>
        <p:nvSpPr>
          <p:cNvPr id="7" name="Text 5"/>
          <p:cNvSpPr/>
          <p:nvPr/>
        </p:nvSpPr>
        <p:spPr>
          <a:xfrm>
            <a:off x="411480" y="1316736"/>
            <a:ext cx="457200" cy="457200"/>
          </a:xfrm>
          <a:prstGeom prst="rect">
            <a:avLst/>
          </a:prstGeom>
          <a:noFill/>
          <a:ln/>
        </p:spPr>
        <p:txBody>
          <a:bodyPr wrap="square"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01</a:t>
            </a:r>
            <a:endParaRPr lang="en-US" sz="1000" dirty="0"/>
          </a:p>
        </p:txBody>
      </p:sp>
      <p:sp>
        <p:nvSpPr>
          <p:cNvPr id="8" name="Text 6"/>
          <p:cNvSpPr/>
          <p:nvPr/>
        </p:nvSpPr>
        <p:spPr>
          <a:xfrm>
            <a:off x="960120" y="1289304"/>
            <a:ext cx="33832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Dataset Collection</a:t>
            </a:r>
            <a:endParaRPr lang="en-US" sz="1200" dirty="0"/>
          </a:p>
        </p:txBody>
      </p:sp>
      <p:sp>
        <p:nvSpPr>
          <p:cNvPr id="9" name="Text 7"/>
          <p:cNvSpPr/>
          <p:nvPr/>
        </p:nvSpPr>
        <p:spPr>
          <a:xfrm>
            <a:off x="960120" y="1536192"/>
            <a:ext cx="338328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Eye images + clinical CSV + NFHS-5 data</a:t>
            </a:r>
            <a:endParaRPr lang="en-US" sz="1000" dirty="0"/>
          </a:p>
        </p:txBody>
      </p:sp>
      <p:sp>
        <p:nvSpPr>
          <p:cNvPr id="10" name="Shape 8"/>
          <p:cNvSpPr/>
          <p:nvPr/>
        </p:nvSpPr>
        <p:spPr>
          <a:xfrm>
            <a:off x="320040" y="1965960"/>
            <a:ext cx="4160520" cy="621792"/>
          </a:xfrm>
          <a:prstGeom prst="roundRect">
            <a:avLst>
              <a:gd name="adj" fmla="val 1764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1" name="Shape 9"/>
          <p:cNvSpPr/>
          <p:nvPr/>
        </p:nvSpPr>
        <p:spPr>
          <a:xfrm>
            <a:off x="411480" y="2048256"/>
            <a:ext cx="457200" cy="457200"/>
          </a:xfrm>
          <a:prstGeom prst="oval">
            <a:avLst/>
          </a:prstGeom>
          <a:solidFill>
            <a:srgbClr val="06B6D4">
              <a:alpha val="25000"/>
            </a:srgbClr>
          </a:solidFill>
          <a:ln w="10160">
            <a:solidFill>
              <a:srgbClr val="06B6D4"/>
            </a:solidFill>
            <a:prstDash val="solid"/>
          </a:ln>
        </p:spPr>
      </p:sp>
      <p:sp>
        <p:nvSpPr>
          <p:cNvPr id="12" name="Text 10"/>
          <p:cNvSpPr/>
          <p:nvPr/>
        </p:nvSpPr>
        <p:spPr>
          <a:xfrm>
            <a:off x="411480" y="2048256"/>
            <a:ext cx="457200" cy="457200"/>
          </a:xfrm>
          <a:prstGeom prst="rect">
            <a:avLst/>
          </a:prstGeom>
          <a:noFill/>
          <a:ln/>
        </p:spPr>
        <p:txBody>
          <a:bodyPr wrap="square" rtlCol="0" anchor="ctr"/>
          <a:lstStyle/>
          <a:p>
            <a:pPr algn="ctr" indent="0" marL="0">
              <a:buNone/>
            </a:pPr>
            <a:r>
              <a:rPr lang="en-US" sz="1000" b="1" dirty="0">
                <a:solidFill>
                  <a:srgbClr val="06B6D4"/>
                </a:solidFill>
                <a:latin typeface="Calibri" pitchFamily="34" charset="0"/>
                <a:ea typeface="Calibri" pitchFamily="34" charset="-122"/>
                <a:cs typeface="Calibri" pitchFamily="34" charset="-120"/>
              </a:rPr>
              <a:t>02</a:t>
            </a:r>
            <a:endParaRPr lang="en-US" sz="1000" dirty="0"/>
          </a:p>
        </p:txBody>
      </p:sp>
      <p:sp>
        <p:nvSpPr>
          <p:cNvPr id="13" name="Text 11"/>
          <p:cNvSpPr/>
          <p:nvPr/>
        </p:nvSpPr>
        <p:spPr>
          <a:xfrm>
            <a:off x="960120" y="2020824"/>
            <a:ext cx="33832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Preprocessing</a:t>
            </a:r>
            <a:endParaRPr lang="en-US" sz="1200" dirty="0"/>
          </a:p>
        </p:txBody>
      </p:sp>
      <p:sp>
        <p:nvSpPr>
          <p:cNvPr id="14" name="Text 12"/>
          <p:cNvSpPr/>
          <p:nvPr/>
        </p:nvSpPr>
        <p:spPr>
          <a:xfrm>
            <a:off x="960120" y="2267712"/>
            <a:ext cx="338328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Labels from Hgb, imputation, normalisation</a:t>
            </a:r>
            <a:endParaRPr lang="en-US" sz="1000" dirty="0"/>
          </a:p>
        </p:txBody>
      </p:sp>
      <p:sp>
        <p:nvSpPr>
          <p:cNvPr id="15" name="Shape 13"/>
          <p:cNvSpPr/>
          <p:nvPr/>
        </p:nvSpPr>
        <p:spPr>
          <a:xfrm>
            <a:off x="320040" y="2697480"/>
            <a:ext cx="4160520" cy="621792"/>
          </a:xfrm>
          <a:prstGeom prst="roundRect">
            <a:avLst>
              <a:gd name="adj" fmla="val 1764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6" name="Shape 14"/>
          <p:cNvSpPr/>
          <p:nvPr/>
        </p:nvSpPr>
        <p:spPr>
          <a:xfrm>
            <a:off x="411480" y="2779776"/>
            <a:ext cx="457200" cy="457200"/>
          </a:xfrm>
          <a:prstGeom prst="oval">
            <a:avLst/>
          </a:prstGeom>
          <a:solidFill>
            <a:srgbClr val="F59E0B">
              <a:alpha val="25000"/>
            </a:srgbClr>
          </a:solidFill>
          <a:ln w="10160">
            <a:solidFill>
              <a:srgbClr val="F59E0B"/>
            </a:solidFill>
            <a:prstDash val="solid"/>
          </a:ln>
        </p:spPr>
      </p:sp>
      <p:sp>
        <p:nvSpPr>
          <p:cNvPr id="17" name="Text 15"/>
          <p:cNvSpPr/>
          <p:nvPr/>
        </p:nvSpPr>
        <p:spPr>
          <a:xfrm>
            <a:off x="411480" y="2779776"/>
            <a:ext cx="457200" cy="457200"/>
          </a:xfrm>
          <a:prstGeom prst="rect">
            <a:avLst/>
          </a:prstGeom>
          <a:noFill/>
          <a:ln/>
        </p:spPr>
        <p:txBody>
          <a:bodyPr wrap="square"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03</a:t>
            </a:r>
            <a:endParaRPr lang="en-US" sz="1000" dirty="0"/>
          </a:p>
        </p:txBody>
      </p:sp>
      <p:sp>
        <p:nvSpPr>
          <p:cNvPr id="18" name="Text 16"/>
          <p:cNvSpPr/>
          <p:nvPr/>
        </p:nvSpPr>
        <p:spPr>
          <a:xfrm>
            <a:off x="960120" y="2752344"/>
            <a:ext cx="33832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Geo-Risk Weights</a:t>
            </a:r>
            <a:endParaRPr lang="en-US" sz="1200" dirty="0"/>
          </a:p>
        </p:txBody>
      </p:sp>
      <p:sp>
        <p:nvSpPr>
          <p:cNvPr id="19" name="Text 17"/>
          <p:cNvSpPr/>
          <p:nvPr/>
        </p:nvSpPr>
        <p:spPr>
          <a:xfrm>
            <a:off x="960120" y="2999232"/>
            <a:ext cx="338328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State-wise prevalence → risk score (0-3)</a:t>
            </a:r>
            <a:endParaRPr lang="en-US" sz="1000" dirty="0"/>
          </a:p>
        </p:txBody>
      </p:sp>
      <p:sp>
        <p:nvSpPr>
          <p:cNvPr id="20" name="Shape 18"/>
          <p:cNvSpPr/>
          <p:nvPr/>
        </p:nvSpPr>
        <p:spPr>
          <a:xfrm>
            <a:off x="320040" y="3429000"/>
            <a:ext cx="4160520" cy="621792"/>
          </a:xfrm>
          <a:prstGeom prst="roundRect">
            <a:avLst>
              <a:gd name="adj" fmla="val 1764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21" name="Shape 19"/>
          <p:cNvSpPr/>
          <p:nvPr/>
        </p:nvSpPr>
        <p:spPr>
          <a:xfrm>
            <a:off x="411480" y="3511296"/>
            <a:ext cx="457200" cy="457200"/>
          </a:xfrm>
          <a:prstGeom prst="oval">
            <a:avLst/>
          </a:prstGeom>
          <a:solidFill>
            <a:srgbClr val="8B5CF6">
              <a:alpha val="25000"/>
            </a:srgbClr>
          </a:solidFill>
          <a:ln w="10160">
            <a:solidFill>
              <a:srgbClr val="8B5CF6"/>
            </a:solidFill>
            <a:prstDash val="solid"/>
          </a:ln>
        </p:spPr>
      </p:sp>
      <p:sp>
        <p:nvSpPr>
          <p:cNvPr id="22" name="Text 20"/>
          <p:cNvSpPr/>
          <p:nvPr/>
        </p:nvSpPr>
        <p:spPr>
          <a:xfrm>
            <a:off x="411480" y="3511296"/>
            <a:ext cx="457200" cy="457200"/>
          </a:xfrm>
          <a:prstGeom prst="rect">
            <a:avLst/>
          </a:prstGeom>
          <a:noFill/>
          <a:ln/>
        </p:spPr>
        <p:txBody>
          <a:bodyPr wrap="square" rtlCol="0" anchor="ctr"/>
          <a:lstStyle/>
          <a:p>
            <a:pPr algn="ctr" indent="0" marL="0">
              <a:buNone/>
            </a:pPr>
            <a:r>
              <a:rPr lang="en-US" sz="1000" b="1" dirty="0">
                <a:solidFill>
                  <a:srgbClr val="8B5CF6"/>
                </a:solidFill>
                <a:latin typeface="Calibri" pitchFamily="34" charset="0"/>
                <a:ea typeface="Calibri" pitchFamily="34" charset="-122"/>
                <a:cs typeface="Calibri" pitchFamily="34" charset="-120"/>
              </a:rPr>
              <a:t>04</a:t>
            </a:r>
            <a:endParaRPr lang="en-US" sz="1000" dirty="0"/>
          </a:p>
        </p:txBody>
      </p:sp>
      <p:sp>
        <p:nvSpPr>
          <p:cNvPr id="23" name="Text 21"/>
          <p:cNvSpPr/>
          <p:nvPr/>
        </p:nvSpPr>
        <p:spPr>
          <a:xfrm>
            <a:off x="960120" y="3483864"/>
            <a:ext cx="33832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Image Feature Ext.</a:t>
            </a:r>
            <a:endParaRPr lang="en-US" sz="1200" dirty="0"/>
          </a:p>
        </p:txBody>
      </p:sp>
      <p:sp>
        <p:nvSpPr>
          <p:cNvPr id="24" name="Text 22"/>
          <p:cNvSpPr/>
          <p:nvPr/>
        </p:nvSpPr>
        <p:spPr>
          <a:xfrm>
            <a:off x="960120" y="3730752"/>
            <a:ext cx="338328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CNN trains on 224×224 conjunctiva images</a:t>
            </a:r>
            <a:endParaRPr lang="en-US" sz="1000" dirty="0"/>
          </a:p>
        </p:txBody>
      </p:sp>
      <p:sp>
        <p:nvSpPr>
          <p:cNvPr id="25" name="Shape 23"/>
          <p:cNvSpPr/>
          <p:nvPr/>
        </p:nvSpPr>
        <p:spPr>
          <a:xfrm>
            <a:off x="320040" y="4160520"/>
            <a:ext cx="4160520" cy="621792"/>
          </a:xfrm>
          <a:prstGeom prst="roundRect">
            <a:avLst>
              <a:gd name="adj" fmla="val 1764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26" name="Shape 24"/>
          <p:cNvSpPr/>
          <p:nvPr/>
        </p:nvSpPr>
        <p:spPr>
          <a:xfrm>
            <a:off x="411480" y="4242816"/>
            <a:ext cx="457200" cy="457200"/>
          </a:xfrm>
          <a:prstGeom prst="oval">
            <a:avLst/>
          </a:prstGeom>
          <a:solidFill>
            <a:srgbClr val="10B981">
              <a:alpha val="25000"/>
            </a:srgbClr>
          </a:solidFill>
          <a:ln w="10160">
            <a:solidFill>
              <a:srgbClr val="10B981"/>
            </a:solidFill>
            <a:prstDash val="solid"/>
          </a:ln>
        </p:spPr>
      </p:sp>
      <p:sp>
        <p:nvSpPr>
          <p:cNvPr id="27" name="Text 25"/>
          <p:cNvSpPr/>
          <p:nvPr/>
        </p:nvSpPr>
        <p:spPr>
          <a:xfrm>
            <a:off x="411480" y="4242816"/>
            <a:ext cx="457200" cy="457200"/>
          </a:xfrm>
          <a:prstGeom prst="rect">
            <a:avLst/>
          </a:prstGeom>
          <a:noFill/>
          <a:ln/>
        </p:spPr>
        <p:txBody>
          <a:bodyPr wrap="square"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05</a:t>
            </a:r>
            <a:endParaRPr lang="en-US" sz="1000" dirty="0"/>
          </a:p>
        </p:txBody>
      </p:sp>
      <p:sp>
        <p:nvSpPr>
          <p:cNvPr id="28" name="Text 26"/>
          <p:cNvSpPr/>
          <p:nvPr/>
        </p:nvSpPr>
        <p:spPr>
          <a:xfrm>
            <a:off x="960120" y="4215384"/>
            <a:ext cx="33832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Clinical Feature Ext.</a:t>
            </a:r>
            <a:endParaRPr lang="en-US" sz="1200" dirty="0"/>
          </a:p>
        </p:txBody>
      </p:sp>
      <p:sp>
        <p:nvSpPr>
          <p:cNvPr id="29" name="Text 27"/>
          <p:cNvSpPr/>
          <p:nvPr/>
        </p:nvSpPr>
        <p:spPr>
          <a:xfrm>
            <a:off x="960120" y="4462272"/>
            <a:ext cx="338328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XGBoost / RF on 35+7 engineered features</a:t>
            </a:r>
            <a:endParaRPr lang="en-US" sz="1000" dirty="0"/>
          </a:p>
        </p:txBody>
      </p:sp>
      <p:sp>
        <p:nvSpPr>
          <p:cNvPr id="30" name="Shape 28"/>
          <p:cNvSpPr/>
          <p:nvPr/>
        </p:nvSpPr>
        <p:spPr>
          <a:xfrm>
            <a:off x="4754880" y="1234440"/>
            <a:ext cx="4160520" cy="621792"/>
          </a:xfrm>
          <a:prstGeom prst="roundRect">
            <a:avLst>
              <a:gd name="adj" fmla="val 1764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31" name="Shape 29"/>
          <p:cNvSpPr/>
          <p:nvPr/>
        </p:nvSpPr>
        <p:spPr>
          <a:xfrm>
            <a:off x="4846320" y="1316736"/>
            <a:ext cx="457200" cy="457200"/>
          </a:xfrm>
          <a:prstGeom prst="oval">
            <a:avLst/>
          </a:prstGeom>
          <a:solidFill>
            <a:srgbClr val="F59E0B">
              <a:alpha val="25000"/>
            </a:srgbClr>
          </a:solidFill>
          <a:ln w="10160">
            <a:solidFill>
              <a:srgbClr val="F59E0B"/>
            </a:solidFill>
            <a:prstDash val="solid"/>
          </a:ln>
        </p:spPr>
      </p:sp>
      <p:sp>
        <p:nvSpPr>
          <p:cNvPr id="32" name="Text 30"/>
          <p:cNvSpPr/>
          <p:nvPr/>
        </p:nvSpPr>
        <p:spPr>
          <a:xfrm>
            <a:off x="4846320" y="1316736"/>
            <a:ext cx="457200" cy="457200"/>
          </a:xfrm>
          <a:prstGeom prst="rect">
            <a:avLst/>
          </a:prstGeom>
          <a:noFill/>
          <a:ln/>
        </p:spPr>
        <p:txBody>
          <a:bodyPr wrap="square"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06</a:t>
            </a:r>
            <a:endParaRPr lang="en-US" sz="1000" dirty="0"/>
          </a:p>
        </p:txBody>
      </p:sp>
      <p:sp>
        <p:nvSpPr>
          <p:cNvPr id="33" name="Text 31"/>
          <p:cNvSpPr/>
          <p:nvPr/>
        </p:nvSpPr>
        <p:spPr>
          <a:xfrm>
            <a:off x="5394960" y="1289304"/>
            <a:ext cx="33832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Geo Feature Ext.</a:t>
            </a:r>
            <a:endParaRPr lang="en-US" sz="1200" dirty="0"/>
          </a:p>
        </p:txBody>
      </p:sp>
      <p:sp>
        <p:nvSpPr>
          <p:cNvPr id="34" name="Text 32"/>
          <p:cNvSpPr/>
          <p:nvPr/>
        </p:nvSpPr>
        <p:spPr>
          <a:xfrm>
            <a:off x="5394960" y="1536192"/>
            <a:ext cx="338328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District embedding + NFHS-5 lookup table</a:t>
            </a:r>
            <a:endParaRPr lang="en-US" sz="1000" dirty="0"/>
          </a:p>
        </p:txBody>
      </p:sp>
      <p:sp>
        <p:nvSpPr>
          <p:cNvPr id="35" name="Shape 33"/>
          <p:cNvSpPr/>
          <p:nvPr/>
        </p:nvSpPr>
        <p:spPr>
          <a:xfrm>
            <a:off x="4754880" y="1965960"/>
            <a:ext cx="4160520" cy="621792"/>
          </a:xfrm>
          <a:prstGeom prst="roundRect">
            <a:avLst>
              <a:gd name="adj" fmla="val 1764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36" name="Shape 34"/>
          <p:cNvSpPr/>
          <p:nvPr/>
        </p:nvSpPr>
        <p:spPr>
          <a:xfrm>
            <a:off x="4846320" y="2048256"/>
            <a:ext cx="457200" cy="457200"/>
          </a:xfrm>
          <a:prstGeom prst="oval">
            <a:avLst/>
          </a:prstGeom>
          <a:solidFill>
            <a:srgbClr val="3B82F6">
              <a:alpha val="25000"/>
            </a:srgbClr>
          </a:solidFill>
          <a:ln w="10160">
            <a:solidFill>
              <a:srgbClr val="3B82F6"/>
            </a:solidFill>
            <a:prstDash val="solid"/>
          </a:ln>
        </p:spPr>
      </p:sp>
      <p:sp>
        <p:nvSpPr>
          <p:cNvPr id="37" name="Text 35"/>
          <p:cNvSpPr/>
          <p:nvPr/>
        </p:nvSpPr>
        <p:spPr>
          <a:xfrm>
            <a:off x="4846320" y="2048256"/>
            <a:ext cx="457200" cy="457200"/>
          </a:xfrm>
          <a:prstGeom prst="rect">
            <a:avLst/>
          </a:prstGeom>
          <a:noFill/>
          <a:ln/>
        </p:spPr>
        <p:txBody>
          <a:bodyPr wrap="square"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07</a:t>
            </a:r>
            <a:endParaRPr lang="en-US" sz="1000" dirty="0"/>
          </a:p>
        </p:txBody>
      </p:sp>
      <p:sp>
        <p:nvSpPr>
          <p:cNvPr id="38" name="Text 36"/>
          <p:cNvSpPr/>
          <p:nvPr/>
        </p:nvSpPr>
        <p:spPr>
          <a:xfrm>
            <a:off x="5394960" y="2020824"/>
            <a:ext cx="33832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Transformer Fusion</a:t>
            </a:r>
            <a:endParaRPr lang="en-US" sz="1200" dirty="0"/>
          </a:p>
        </p:txBody>
      </p:sp>
      <p:sp>
        <p:nvSpPr>
          <p:cNvPr id="39" name="Text 37"/>
          <p:cNvSpPr/>
          <p:nvPr/>
        </p:nvSpPr>
        <p:spPr>
          <a:xfrm>
            <a:off x="5394960" y="2267712"/>
            <a:ext cx="338328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Concat all vectors → Multi-head Attention</a:t>
            </a:r>
            <a:endParaRPr lang="en-US" sz="1000" dirty="0"/>
          </a:p>
        </p:txBody>
      </p:sp>
      <p:sp>
        <p:nvSpPr>
          <p:cNvPr id="40" name="Shape 38"/>
          <p:cNvSpPr/>
          <p:nvPr/>
        </p:nvSpPr>
        <p:spPr>
          <a:xfrm>
            <a:off x="4754880" y="2697480"/>
            <a:ext cx="4160520" cy="621792"/>
          </a:xfrm>
          <a:prstGeom prst="roundRect">
            <a:avLst>
              <a:gd name="adj" fmla="val 1764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41" name="Shape 39"/>
          <p:cNvSpPr/>
          <p:nvPr/>
        </p:nvSpPr>
        <p:spPr>
          <a:xfrm>
            <a:off x="4846320" y="2779776"/>
            <a:ext cx="457200" cy="457200"/>
          </a:xfrm>
          <a:prstGeom prst="oval">
            <a:avLst/>
          </a:prstGeom>
          <a:solidFill>
            <a:srgbClr val="06B6D4">
              <a:alpha val="25000"/>
            </a:srgbClr>
          </a:solidFill>
          <a:ln w="10160">
            <a:solidFill>
              <a:srgbClr val="06B6D4"/>
            </a:solidFill>
            <a:prstDash val="solid"/>
          </a:ln>
        </p:spPr>
      </p:sp>
      <p:sp>
        <p:nvSpPr>
          <p:cNvPr id="42" name="Text 40"/>
          <p:cNvSpPr/>
          <p:nvPr/>
        </p:nvSpPr>
        <p:spPr>
          <a:xfrm>
            <a:off x="4846320" y="2779776"/>
            <a:ext cx="457200" cy="457200"/>
          </a:xfrm>
          <a:prstGeom prst="rect">
            <a:avLst/>
          </a:prstGeom>
          <a:noFill/>
          <a:ln/>
        </p:spPr>
        <p:txBody>
          <a:bodyPr wrap="square" rtlCol="0" anchor="ctr"/>
          <a:lstStyle/>
          <a:p>
            <a:pPr algn="ctr" indent="0" marL="0">
              <a:buNone/>
            </a:pPr>
            <a:r>
              <a:rPr lang="en-US" sz="1000" b="1" dirty="0">
                <a:solidFill>
                  <a:srgbClr val="06B6D4"/>
                </a:solidFill>
                <a:latin typeface="Calibri" pitchFamily="34" charset="0"/>
                <a:ea typeface="Calibri" pitchFamily="34" charset="-122"/>
                <a:cs typeface="Calibri" pitchFamily="34" charset="-120"/>
              </a:rPr>
              <a:t>08</a:t>
            </a:r>
            <a:endParaRPr lang="en-US" sz="1000" dirty="0"/>
          </a:p>
        </p:txBody>
      </p:sp>
      <p:sp>
        <p:nvSpPr>
          <p:cNvPr id="43" name="Text 41"/>
          <p:cNvSpPr/>
          <p:nvPr/>
        </p:nvSpPr>
        <p:spPr>
          <a:xfrm>
            <a:off x="5394960" y="2752344"/>
            <a:ext cx="33832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Training &amp; Validation</a:t>
            </a:r>
            <a:endParaRPr lang="en-US" sz="1200" dirty="0"/>
          </a:p>
        </p:txBody>
      </p:sp>
      <p:sp>
        <p:nvSpPr>
          <p:cNvPr id="44" name="Text 42"/>
          <p:cNvSpPr/>
          <p:nvPr/>
        </p:nvSpPr>
        <p:spPr>
          <a:xfrm>
            <a:off x="5394960" y="2999232"/>
            <a:ext cx="338328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Patient-level split, cosine LR, early stop</a:t>
            </a:r>
            <a:endParaRPr lang="en-US" sz="1000" dirty="0"/>
          </a:p>
        </p:txBody>
      </p:sp>
      <p:sp>
        <p:nvSpPr>
          <p:cNvPr id="45" name="Shape 43"/>
          <p:cNvSpPr/>
          <p:nvPr/>
        </p:nvSpPr>
        <p:spPr>
          <a:xfrm>
            <a:off x="4754880" y="3429000"/>
            <a:ext cx="4160520" cy="621792"/>
          </a:xfrm>
          <a:prstGeom prst="roundRect">
            <a:avLst>
              <a:gd name="adj" fmla="val 1764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46" name="Shape 44"/>
          <p:cNvSpPr/>
          <p:nvPr/>
        </p:nvSpPr>
        <p:spPr>
          <a:xfrm>
            <a:off x="4846320" y="3511296"/>
            <a:ext cx="457200" cy="457200"/>
          </a:xfrm>
          <a:prstGeom prst="oval">
            <a:avLst/>
          </a:prstGeom>
          <a:solidFill>
            <a:srgbClr val="8B5CF6">
              <a:alpha val="25000"/>
            </a:srgbClr>
          </a:solidFill>
          <a:ln w="10160">
            <a:solidFill>
              <a:srgbClr val="8B5CF6"/>
            </a:solidFill>
            <a:prstDash val="solid"/>
          </a:ln>
        </p:spPr>
      </p:sp>
      <p:sp>
        <p:nvSpPr>
          <p:cNvPr id="47" name="Text 45"/>
          <p:cNvSpPr/>
          <p:nvPr/>
        </p:nvSpPr>
        <p:spPr>
          <a:xfrm>
            <a:off x="4846320" y="3511296"/>
            <a:ext cx="457200" cy="457200"/>
          </a:xfrm>
          <a:prstGeom prst="rect">
            <a:avLst/>
          </a:prstGeom>
          <a:noFill/>
          <a:ln/>
        </p:spPr>
        <p:txBody>
          <a:bodyPr wrap="square" rtlCol="0" anchor="ctr"/>
          <a:lstStyle/>
          <a:p>
            <a:pPr algn="ctr" indent="0" marL="0">
              <a:buNone/>
            </a:pPr>
            <a:r>
              <a:rPr lang="en-US" sz="1000" b="1" dirty="0">
                <a:solidFill>
                  <a:srgbClr val="8B5CF6"/>
                </a:solidFill>
                <a:latin typeface="Calibri" pitchFamily="34" charset="0"/>
                <a:ea typeface="Calibri" pitchFamily="34" charset="-122"/>
                <a:cs typeface="Calibri" pitchFamily="34" charset="-120"/>
              </a:rPr>
              <a:t>09</a:t>
            </a:r>
            <a:endParaRPr lang="en-US" sz="1000" dirty="0"/>
          </a:p>
        </p:txBody>
      </p:sp>
      <p:sp>
        <p:nvSpPr>
          <p:cNvPr id="48" name="Text 46"/>
          <p:cNvSpPr/>
          <p:nvPr/>
        </p:nvSpPr>
        <p:spPr>
          <a:xfrm>
            <a:off x="5394960" y="3483864"/>
            <a:ext cx="33832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Evaluation</a:t>
            </a:r>
            <a:endParaRPr lang="en-US" sz="1200" dirty="0"/>
          </a:p>
        </p:txBody>
      </p:sp>
      <p:sp>
        <p:nvSpPr>
          <p:cNvPr id="49" name="Text 47"/>
          <p:cNvSpPr/>
          <p:nvPr/>
        </p:nvSpPr>
        <p:spPr>
          <a:xfrm>
            <a:off x="5394960" y="3730752"/>
            <a:ext cx="338328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F1, AUC-ROC, confusion matrix, feat. importance</a:t>
            </a:r>
            <a:endParaRPr lang="en-US" sz="1000" dirty="0"/>
          </a:p>
        </p:txBody>
      </p:sp>
      <p:sp>
        <p:nvSpPr>
          <p:cNvPr id="50" name="Shape 48"/>
          <p:cNvSpPr/>
          <p:nvPr/>
        </p:nvSpPr>
        <p:spPr>
          <a:xfrm>
            <a:off x="4754880" y="4160520"/>
            <a:ext cx="4160520" cy="621792"/>
          </a:xfrm>
          <a:prstGeom prst="roundRect">
            <a:avLst>
              <a:gd name="adj" fmla="val 1764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51" name="Shape 49"/>
          <p:cNvSpPr/>
          <p:nvPr/>
        </p:nvSpPr>
        <p:spPr>
          <a:xfrm>
            <a:off x="4846320" y="4242816"/>
            <a:ext cx="457200" cy="457200"/>
          </a:xfrm>
          <a:prstGeom prst="oval">
            <a:avLst/>
          </a:prstGeom>
          <a:solidFill>
            <a:srgbClr val="10B981">
              <a:alpha val="25000"/>
            </a:srgbClr>
          </a:solidFill>
          <a:ln w="10160">
            <a:solidFill>
              <a:srgbClr val="10B981"/>
            </a:solidFill>
            <a:prstDash val="solid"/>
          </a:ln>
        </p:spPr>
      </p:sp>
      <p:sp>
        <p:nvSpPr>
          <p:cNvPr id="52" name="Text 50"/>
          <p:cNvSpPr/>
          <p:nvPr/>
        </p:nvSpPr>
        <p:spPr>
          <a:xfrm>
            <a:off x="4846320" y="4242816"/>
            <a:ext cx="457200" cy="457200"/>
          </a:xfrm>
          <a:prstGeom prst="rect">
            <a:avLst/>
          </a:prstGeom>
          <a:noFill/>
          <a:ln/>
        </p:spPr>
        <p:txBody>
          <a:bodyPr wrap="square"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10</a:t>
            </a:r>
            <a:endParaRPr lang="en-US" sz="1000" dirty="0"/>
          </a:p>
        </p:txBody>
      </p:sp>
      <p:sp>
        <p:nvSpPr>
          <p:cNvPr id="53" name="Text 51"/>
          <p:cNvSpPr/>
          <p:nvPr/>
        </p:nvSpPr>
        <p:spPr>
          <a:xfrm>
            <a:off x="5394960" y="4215384"/>
            <a:ext cx="33832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Web Deployment</a:t>
            </a:r>
            <a:endParaRPr lang="en-US" sz="1200" dirty="0"/>
          </a:p>
        </p:txBody>
      </p:sp>
      <p:sp>
        <p:nvSpPr>
          <p:cNvPr id="54" name="Text 52"/>
          <p:cNvSpPr/>
          <p:nvPr/>
        </p:nvSpPr>
        <p:spPr>
          <a:xfrm>
            <a:off x="5394960" y="4462272"/>
            <a:ext cx="338328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Streamlit dark dashboard + webcam + forms</a:t>
            </a:r>
            <a:endParaRPr lang="en-US" sz="1000" dirty="0"/>
          </a:p>
        </p:txBody>
      </p:sp>
      <p:sp>
        <p:nvSpPr>
          <p:cNvPr id="56" name="Text 53"/>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Bhautik Gondaliya  ·  AnemiaFusionNet  ·  4/10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365760" y="228600"/>
            <a:ext cx="1463040" cy="256032"/>
          </a:xfrm>
          <a:prstGeom prst="roundRect">
            <a:avLst>
              <a:gd name="adj" fmla="val 21429"/>
            </a:avLst>
          </a:prstGeom>
          <a:solidFill>
            <a:srgbClr val="10B981"/>
          </a:solidFill>
          <a:ln/>
        </p:spPr>
      </p:sp>
      <p:sp>
        <p:nvSpPr>
          <p:cNvPr id="3" name="Text 1"/>
          <p:cNvSpPr/>
          <p:nvPr/>
        </p:nvSpPr>
        <p:spPr>
          <a:xfrm>
            <a:off x="365760" y="228600"/>
            <a:ext cx="14630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DATASET</a:t>
            </a:r>
            <a:endParaRPr lang="en-US" sz="900" dirty="0"/>
          </a:p>
        </p:txBody>
      </p:sp>
      <p:sp>
        <p:nvSpPr>
          <p:cNvPr id="4" name="Text 2"/>
          <p:cNvSpPr/>
          <p:nvPr/>
        </p:nvSpPr>
        <p:spPr>
          <a:xfrm>
            <a:off x="365760" y="566928"/>
            <a:ext cx="841248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Datasets Used in This Project</a:t>
            </a:r>
            <a:endParaRPr lang="en-US" sz="3000" dirty="0"/>
          </a:p>
        </p:txBody>
      </p:sp>
      <p:sp>
        <p:nvSpPr>
          <p:cNvPr id="5" name="Shape 3"/>
          <p:cNvSpPr/>
          <p:nvPr/>
        </p:nvSpPr>
        <p:spPr>
          <a:xfrm>
            <a:off x="320040" y="1207008"/>
            <a:ext cx="4023360" cy="3520440"/>
          </a:xfrm>
          <a:prstGeom prst="roundRect">
            <a:avLst>
              <a:gd name="adj" fmla="val 311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pic>
        <p:nvPicPr>
          <p:cNvPr id="6" name="Image 0" descr="preencoded.png">    </p:cNvPr>
          <p:cNvPicPr>
            <a:picLocks noChangeAspect="1"/>
          </p:cNvPicPr>
          <p:nvPr/>
        </p:nvPicPr>
        <p:blipFill>
          <a:blip r:embed="rId1"/>
          <a:stretch>
            <a:fillRect/>
          </a:stretch>
        </p:blipFill>
        <p:spPr>
          <a:xfrm>
            <a:off x="502920" y="1298448"/>
            <a:ext cx="411480" cy="411480"/>
          </a:xfrm>
          <a:prstGeom prst="rect">
            <a:avLst/>
          </a:prstGeom>
        </p:spPr>
      </p:pic>
      <p:sp>
        <p:nvSpPr>
          <p:cNvPr id="7" name="Text 4"/>
          <p:cNvSpPr/>
          <p:nvPr/>
        </p:nvSpPr>
        <p:spPr>
          <a:xfrm>
            <a:off x="1005840" y="1298448"/>
            <a:ext cx="3200400" cy="411480"/>
          </a:xfrm>
          <a:prstGeom prst="rect">
            <a:avLst/>
          </a:prstGeom>
          <a:noFill/>
          <a:ln/>
        </p:spPr>
        <p:txBody>
          <a:bodyPr wrap="square"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  Eye Image Dataset</a:t>
            </a:r>
            <a:endParaRPr lang="en-US" sz="1400" dirty="0"/>
          </a:p>
        </p:txBody>
      </p:sp>
      <p:sp>
        <p:nvSpPr>
          <p:cNvPr id="8" name="Text 5"/>
          <p:cNvSpPr/>
          <p:nvPr/>
        </p:nvSpPr>
        <p:spPr>
          <a:xfrm>
            <a:off x="457200" y="1810512"/>
            <a:ext cx="1371600" cy="329184"/>
          </a:xfrm>
          <a:prstGeom prst="rect">
            <a:avLst/>
          </a:prstGeom>
          <a:noFill/>
          <a:ln/>
        </p:spPr>
        <p:txBody>
          <a:bodyPr wrap="square"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Type:</a:t>
            </a:r>
            <a:endParaRPr lang="en-US" sz="1100" dirty="0"/>
          </a:p>
        </p:txBody>
      </p:sp>
      <p:sp>
        <p:nvSpPr>
          <p:cNvPr id="9" name="Text 6"/>
          <p:cNvSpPr/>
          <p:nvPr/>
        </p:nvSpPr>
        <p:spPr>
          <a:xfrm>
            <a:off x="1828800" y="1810512"/>
            <a:ext cx="23774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Conjunctiva (inner eyelid) photos</a:t>
            </a:r>
            <a:endParaRPr lang="en-US" sz="1100" dirty="0"/>
          </a:p>
        </p:txBody>
      </p:sp>
      <p:sp>
        <p:nvSpPr>
          <p:cNvPr id="10" name="Text 7"/>
          <p:cNvSpPr/>
          <p:nvPr/>
        </p:nvSpPr>
        <p:spPr>
          <a:xfrm>
            <a:off x="457200" y="2212848"/>
            <a:ext cx="1371600" cy="329184"/>
          </a:xfrm>
          <a:prstGeom prst="rect">
            <a:avLst/>
          </a:prstGeom>
          <a:noFill/>
          <a:ln/>
        </p:spPr>
        <p:txBody>
          <a:bodyPr wrap="square"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Images/Patient:</a:t>
            </a:r>
            <a:endParaRPr lang="en-US" sz="1100" dirty="0"/>
          </a:p>
        </p:txBody>
      </p:sp>
      <p:sp>
        <p:nvSpPr>
          <p:cNvPr id="11" name="Text 8"/>
          <p:cNvSpPr/>
          <p:nvPr/>
        </p:nvSpPr>
        <p:spPr>
          <a:xfrm>
            <a:off x="1828800" y="2212848"/>
            <a:ext cx="23774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3–5 (raw + segmented regions)</a:t>
            </a:r>
            <a:endParaRPr lang="en-US" sz="1100" dirty="0"/>
          </a:p>
        </p:txBody>
      </p:sp>
      <p:sp>
        <p:nvSpPr>
          <p:cNvPr id="12" name="Text 9"/>
          <p:cNvSpPr/>
          <p:nvPr/>
        </p:nvSpPr>
        <p:spPr>
          <a:xfrm>
            <a:off x="457200" y="2615184"/>
            <a:ext cx="1371600" cy="329184"/>
          </a:xfrm>
          <a:prstGeom prst="rect">
            <a:avLst/>
          </a:prstGeom>
          <a:noFill/>
          <a:ln/>
        </p:spPr>
        <p:txBody>
          <a:bodyPr wrap="square"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Regions:</a:t>
            </a:r>
            <a:endParaRPr lang="en-US" sz="1100" dirty="0"/>
          </a:p>
        </p:txBody>
      </p:sp>
      <p:sp>
        <p:nvSpPr>
          <p:cNvPr id="13" name="Text 10"/>
          <p:cNvSpPr/>
          <p:nvPr/>
        </p:nvSpPr>
        <p:spPr>
          <a:xfrm>
            <a:off x="1828800" y="2615184"/>
            <a:ext cx="23774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Palpebral, forniceal, combined</a:t>
            </a:r>
            <a:endParaRPr lang="en-US" sz="1100" dirty="0"/>
          </a:p>
        </p:txBody>
      </p:sp>
      <p:sp>
        <p:nvSpPr>
          <p:cNvPr id="14" name="Text 11"/>
          <p:cNvSpPr/>
          <p:nvPr/>
        </p:nvSpPr>
        <p:spPr>
          <a:xfrm>
            <a:off x="457200" y="3017520"/>
            <a:ext cx="1371600" cy="329184"/>
          </a:xfrm>
          <a:prstGeom prst="rect">
            <a:avLst/>
          </a:prstGeom>
          <a:noFill/>
          <a:ln/>
        </p:spPr>
        <p:txBody>
          <a:bodyPr wrap="square"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Label:</a:t>
            </a:r>
            <a:endParaRPr lang="en-US" sz="1100" dirty="0"/>
          </a:p>
        </p:txBody>
      </p:sp>
      <p:sp>
        <p:nvSpPr>
          <p:cNvPr id="15" name="Text 12"/>
          <p:cNvSpPr/>
          <p:nvPr/>
        </p:nvSpPr>
        <p:spPr>
          <a:xfrm>
            <a:off x="1828800" y="3017520"/>
            <a:ext cx="23774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Hgb &lt; 12 g/dL → Anemic (1)</a:t>
            </a:r>
            <a:endParaRPr lang="en-US" sz="1100" dirty="0"/>
          </a:p>
        </p:txBody>
      </p:sp>
      <p:sp>
        <p:nvSpPr>
          <p:cNvPr id="16" name="Text 13"/>
          <p:cNvSpPr/>
          <p:nvPr/>
        </p:nvSpPr>
        <p:spPr>
          <a:xfrm>
            <a:off x="457200" y="3419856"/>
            <a:ext cx="1371600" cy="329184"/>
          </a:xfrm>
          <a:prstGeom prst="rect">
            <a:avLst/>
          </a:prstGeom>
          <a:noFill/>
          <a:ln/>
        </p:spPr>
        <p:txBody>
          <a:bodyPr wrap="square"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Capture:</a:t>
            </a:r>
            <a:endParaRPr lang="en-US" sz="1100" dirty="0"/>
          </a:p>
        </p:txBody>
      </p:sp>
      <p:sp>
        <p:nvSpPr>
          <p:cNvPr id="17" name="Text 14"/>
          <p:cNvSpPr/>
          <p:nvPr/>
        </p:nvSpPr>
        <p:spPr>
          <a:xfrm>
            <a:off x="1828800" y="3419856"/>
            <a:ext cx="23774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Smartphone, pull-down technique</a:t>
            </a:r>
            <a:endParaRPr lang="en-US" sz="1100" dirty="0"/>
          </a:p>
        </p:txBody>
      </p:sp>
      <p:sp>
        <p:nvSpPr>
          <p:cNvPr id="18" name="Text 15"/>
          <p:cNvSpPr/>
          <p:nvPr/>
        </p:nvSpPr>
        <p:spPr>
          <a:xfrm>
            <a:off x="457200" y="3822192"/>
            <a:ext cx="1371600" cy="329184"/>
          </a:xfrm>
          <a:prstGeom prst="rect">
            <a:avLst/>
          </a:prstGeom>
          <a:noFill/>
          <a:ln/>
        </p:spPr>
        <p:txBody>
          <a:bodyPr wrap="square"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Split:</a:t>
            </a:r>
            <a:endParaRPr lang="en-US" sz="1100" dirty="0"/>
          </a:p>
        </p:txBody>
      </p:sp>
      <p:sp>
        <p:nvSpPr>
          <p:cNvPr id="19" name="Text 16"/>
          <p:cNvSpPr/>
          <p:nvPr/>
        </p:nvSpPr>
        <p:spPr>
          <a:xfrm>
            <a:off x="1828800" y="3822192"/>
            <a:ext cx="23774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70% train / 15% val / 15% test</a:t>
            </a:r>
            <a:endParaRPr lang="en-US" sz="1100" dirty="0"/>
          </a:p>
        </p:txBody>
      </p:sp>
      <p:sp>
        <p:nvSpPr>
          <p:cNvPr id="20" name="Text 17"/>
          <p:cNvSpPr/>
          <p:nvPr/>
        </p:nvSpPr>
        <p:spPr>
          <a:xfrm>
            <a:off x="457200" y="4224528"/>
            <a:ext cx="1371600" cy="329184"/>
          </a:xfrm>
          <a:prstGeom prst="rect">
            <a:avLst/>
          </a:prstGeom>
          <a:noFill/>
          <a:ln/>
        </p:spPr>
        <p:txBody>
          <a:bodyPr wrap="square"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Key point:</a:t>
            </a:r>
            <a:endParaRPr lang="en-US" sz="1100" dirty="0"/>
          </a:p>
        </p:txBody>
      </p:sp>
      <p:sp>
        <p:nvSpPr>
          <p:cNvPr id="21" name="Text 18"/>
          <p:cNvSpPr/>
          <p:nvPr/>
        </p:nvSpPr>
        <p:spPr>
          <a:xfrm>
            <a:off x="1828800" y="4224528"/>
            <a:ext cx="23774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Patient-level split (no leakage)</a:t>
            </a:r>
            <a:endParaRPr lang="en-US" sz="1100" dirty="0"/>
          </a:p>
        </p:txBody>
      </p:sp>
      <p:sp>
        <p:nvSpPr>
          <p:cNvPr id="22" name="Shape 19"/>
          <p:cNvSpPr/>
          <p:nvPr/>
        </p:nvSpPr>
        <p:spPr>
          <a:xfrm>
            <a:off x="4572000" y="1207008"/>
            <a:ext cx="4251960" cy="3520440"/>
          </a:xfrm>
          <a:prstGeom prst="roundRect">
            <a:avLst>
              <a:gd name="adj" fmla="val 311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pic>
        <p:nvPicPr>
          <p:cNvPr id="23" name="Image 1" descr="preencoded.png">    </p:cNvPr>
          <p:cNvPicPr>
            <a:picLocks noChangeAspect="1"/>
          </p:cNvPicPr>
          <p:nvPr/>
        </p:nvPicPr>
        <p:blipFill>
          <a:blip r:embed="rId2"/>
          <a:stretch>
            <a:fillRect/>
          </a:stretch>
        </p:blipFill>
        <p:spPr>
          <a:xfrm>
            <a:off x="4754880" y="1298448"/>
            <a:ext cx="411480" cy="411480"/>
          </a:xfrm>
          <a:prstGeom prst="rect">
            <a:avLst/>
          </a:prstGeom>
        </p:spPr>
      </p:pic>
      <p:sp>
        <p:nvSpPr>
          <p:cNvPr id="24" name="Text 20"/>
          <p:cNvSpPr/>
          <p:nvPr/>
        </p:nvSpPr>
        <p:spPr>
          <a:xfrm>
            <a:off x="5257800" y="1298448"/>
            <a:ext cx="3383280" cy="411480"/>
          </a:xfrm>
          <a:prstGeom prst="rect">
            <a:avLst/>
          </a:prstGeom>
          <a:noFill/>
          <a:ln/>
        </p:spPr>
        <p:txBody>
          <a:bodyPr wrap="square"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  Clinical Cell Dataset</a:t>
            </a:r>
            <a:endParaRPr lang="en-US" sz="1400" dirty="0"/>
          </a:p>
        </p:txBody>
      </p:sp>
      <p:sp>
        <p:nvSpPr>
          <p:cNvPr id="25" name="Text 21"/>
          <p:cNvSpPr/>
          <p:nvPr/>
        </p:nvSpPr>
        <p:spPr>
          <a:xfrm>
            <a:off x="4709160" y="1810512"/>
            <a:ext cx="1371600" cy="329184"/>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Records:</a:t>
            </a:r>
            <a:endParaRPr lang="en-US" sz="1100" dirty="0"/>
          </a:p>
        </p:txBody>
      </p:sp>
      <p:sp>
        <p:nvSpPr>
          <p:cNvPr id="26" name="Text 22"/>
          <p:cNvSpPr/>
          <p:nvPr/>
        </p:nvSpPr>
        <p:spPr>
          <a:xfrm>
            <a:off x="6080760" y="1810512"/>
            <a:ext cx="26060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~1,176 blood cell entries</a:t>
            </a:r>
            <a:endParaRPr lang="en-US" sz="1100" dirty="0"/>
          </a:p>
        </p:txBody>
      </p:sp>
      <p:sp>
        <p:nvSpPr>
          <p:cNvPr id="27" name="Text 23"/>
          <p:cNvSpPr/>
          <p:nvPr/>
        </p:nvSpPr>
        <p:spPr>
          <a:xfrm>
            <a:off x="4709160" y="2212848"/>
            <a:ext cx="1371600" cy="329184"/>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Sources:</a:t>
            </a:r>
            <a:endParaRPr lang="en-US" sz="1100" dirty="0"/>
          </a:p>
        </p:txBody>
      </p:sp>
      <p:sp>
        <p:nvSpPr>
          <p:cNvPr id="28" name="Text 24"/>
          <p:cNvSpPr/>
          <p:nvPr/>
        </p:nvSpPr>
        <p:spPr>
          <a:xfrm>
            <a:off x="6080760" y="2212848"/>
            <a:ext cx="26060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CytoData + PBC_Dataset</a:t>
            </a:r>
            <a:endParaRPr lang="en-US" sz="1100" dirty="0"/>
          </a:p>
        </p:txBody>
      </p:sp>
      <p:sp>
        <p:nvSpPr>
          <p:cNvPr id="29" name="Text 25"/>
          <p:cNvSpPr/>
          <p:nvPr/>
        </p:nvSpPr>
        <p:spPr>
          <a:xfrm>
            <a:off x="4709160" y="2615184"/>
            <a:ext cx="1371600" cy="329184"/>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Staining:</a:t>
            </a:r>
            <a:endParaRPr lang="en-US" sz="1100" dirty="0"/>
          </a:p>
        </p:txBody>
      </p:sp>
      <p:sp>
        <p:nvSpPr>
          <p:cNvPr id="30" name="Text 26"/>
          <p:cNvSpPr/>
          <p:nvPr/>
        </p:nvSpPr>
        <p:spPr>
          <a:xfrm>
            <a:off x="6080760" y="2615184"/>
            <a:ext cx="26060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Wright stain, Giemsa stain</a:t>
            </a:r>
            <a:endParaRPr lang="en-US" sz="1100" dirty="0"/>
          </a:p>
        </p:txBody>
      </p:sp>
      <p:sp>
        <p:nvSpPr>
          <p:cNvPr id="31" name="Text 27"/>
          <p:cNvSpPr/>
          <p:nvPr/>
        </p:nvSpPr>
        <p:spPr>
          <a:xfrm>
            <a:off x="4709160" y="3017520"/>
            <a:ext cx="1371600" cy="329184"/>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Microscopes:</a:t>
            </a:r>
            <a:endParaRPr lang="en-US" sz="1100" dirty="0"/>
          </a:p>
        </p:txBody>
      </p:sp>
      <p:sp>
        <p:nvSpPr>
          <p:cNvPr id="32" name="Text 28"/>
          <p:cNvSpPr/>
          <p:nvPr/>
        </p:nvSpPr>
        <p:spPr>
          <a:xfrm>
            <a:off x="6080760" y="3017520"/>
            <a:ext cx="26060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Zeiss Axio, Leica, Olympus</a:t>
            </a:r>
            <a:endParaRPr lang="en-US" sz="1100" dirty="0"/>
          </a:p>
        </p:txBody>
      </p:sp>
      <p:sp>
        <p:nvSpPr>
          <p:cNvPr id="33" name="Text 29"/>
          <p:cNvSpPr/>
          <p:nvPr/>
        </p:nvSpPr>
        <p:spPr>
          <a:xfrm>
            <a:off x="4709160" y="3419856"/>
            <a:ext cx="1371600" cy="329184"/>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Classes:</a:t>
            </a:r>
            <a:endParaRPr lang="en-US" sz="1100" dirty="0"/>
          </a:p>
        </p:txBody>
      </p:sp>
      <p:sp>
        <p:nvSpPr>
          <p:cNvPr id="34" name="Text 30"/>
          <p:cNvSpPr/>
          <p:nvPr/>
        </p:nvSpPr>
        <p:spPr>
          <a:xfrm>
            <a:off x="6080760" y="3419856"/>
            <a:ext cx="26060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800 Normal | 376 Anomaly</a:t>
            </a:r>
            <a:endParaRPr lang="en-US" sz="1100" dirty="0"/>
          </a:p>
        </p:txBody>
      </p:sp>
      <p:sp>
        <p:nvSpPr>
          <p:cNvPr id="35" name="Text 31"/>
          <p:cNvSpPr/>
          <p:nvPr/>
        </p:nvSpPr>
        <p:spPr>
          <a:xfrm>
            <a:off x="4709160" y="3822192"/>
            <a:ext cx="1371600" cy="329184"/>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Features:</a:t>
            </a:r>
            <a:endParaRPr lang="en-US" sz="1100" dirty="0"/>
          </a:p>
        </p:txBody>
      </p:sp>
      <p:sp>
        <p:nvSpPr>
          <p:cNvPr id="36" name="Text 32"/>
          <p:cNvSpPr/>
          <p:nvPr/>
        </p:nvSpPr>
        <p:spPr>
          <a:xfrm>
            <a:off x="6080760" y="3822192"/>
            <a:ext cx="26060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35 raw + 7 engineered = 42</a:t>
            </a:r>
            <a:endParaRPr lang="en-US" sz="1100" dirty="0"/>
          </a:p>
        </p:txBody>
      </p:sp>
      <p:sp>
        <p:nvSpPr>
          <p:cNvPr id="37" name="Text 33"/>
          <p:cNvSpPr/>
          <p:nvPr/>
        </p:nvSpPr>
        <p:spPr>
          <a:xfrm>
            <a:off x="4709160" y="4224528"/>
            <a:ext cx="1371600" cy="329184"/>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Split:</a:t>
            </a:r>
            <a:endParaRPr lang="en-US" sz="1100" dirty="0"/>
          </a:p>
        </p:txBody>
      </p:sp>
      <p:sp>
        <p:nvSpPr>
          <p:cNvPr id="38" name="Text 34"/>
          <p:cNvSpPr/>
          <p:nvPr/>
        </p:nvSpPr>
        <p:spPr>
          <a:xfrm>
            <a:off x="6080760" y="4224528"/>
            <a:ext cx="2606040" cy="329184"/>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80% train / 20% test</a:t>
            </a:r>
            <a:endParaRPr lang="en-US" sz="1100" dirty="0"/>
          </a:p>
        </p:txBody>
      </p:sp>
      <p:sp>
        <p:nvSpPr>
          <p:cNvPr id="39" name="Shape 35"/>
          <p:cNvSpPr/>
          <p:nvPr/>
        </p:nvSpPr>
        <p:spPr>
          <a:xfrm>
            <a:off x="320040" y="4828032"/>
            <a:ext cx="8503920" cy="201168"/>
          </a:xfrm>
          <a:prstGeom prst="roundRect">
            <a:avLst>
              <a:gd name="adj" fmla="val 54545"/>
            </a:avLst>
          </a:prstGeom>
          <a:solidFill>
            <a:srgbClr val="1A2744"/>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40" name="Text 36"/>
          <p:cNvSpPr/>
          <p:nvPr/>
        </p:nvSpPr>
        <p:spPr>
          <a:xfrm>
            <a:off x="502920" y="4846320"/>
            <a:ext cx="8229600" cy="164592"/>
          </a:xfrm>
          <a:prstGeom prst="rect">
            <a:avLst/>
          </a:prstGeom>
          <a:noFill/>
          <a:ln/>
        </p:spPr>
        <p:txBody>
          <a:bodyPr wrap="square" rtlCol="0" anchor="ctr"/>
          <a:lstStyle/>
          <a:p>
            <a:pPr indent="0" marL="0">
              <a:buNone/>
            </a:pPr>
            <a:r>
              <a:rPr lang="en-US" sz="950" dirty="0">
                <a:solidFill>
                  <a:srgbClr val="F59E0B"/>
                </a:solidFill>
                <a:latin typeface="Calibri" pitchFamily="34" charset="0"/>
                <a:ea typeface="Calibri" pitchFamily="34" charset="-122"/>
                <a:cs typeface="Calibri" pitchFamily="34" charset="-120"/>
              </a:rPr>
              <a:t>🗺️  Geo-Risk Data:  NFHS-5 (National Family Health Survey 2019-21) — state &amp; district-wise anemia prevalence for all Indian states</a:t>
            </a:r>
            <a:endParaRPr lang="en-US" sz="950" dirty="0"/>
          </a:p>
        </p:txBody>
      </p:sp>
      <p:sp>
        <p:nvSpPr>
          <p:cNvPr id="42" name="Text 37"/>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Bhautik Gondaliya  ·  AnemiaFusionNet  ·  5/10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365760" y="228600"/>
            <a:ext cx="1463040" cy="256032"/>
          </a:xfrm>
          <a:prstGeom prst="roundRect">
            <a:avLst>
              <a:gd name="adj" fmla="val 21429"/>
            </a:avLst>
          </a:prstGeom>
          <a:solidFill>
            <a:srgbClr val="06B6D4"/>
          </a:solidFill>
          <a:ln/>
        </p:spPr>
      </p:sp>
      <p:sp>
        <p:nvSpPr>
          <p:cNvPr id="3" name="Text 1"/>
          <p:cNvSpPr/>
          <p:nvPr/>
        </p:nvSpPr>
        <p:spPr>
          <a:xfrm>
            <a:off x="365760" y="228600"/>
            <a:ext cx="14630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MODULE 1</a:t>
            </a:r>
            <a:endParaRPr lang="en-US" sz="900" dirty="0"/>
          </a:p>
        </p:txBody>
      </p:sp>
      <p:sp>
        <p:nvSpPr>
          <p:cNvPr id="4" name="Text 2"/>
          <p:cNvSpPr/>
          <p:nvPr/>
        </p:nvSpPr>
        <p:spPr>
          <a:xfrm>
            <a:off x="365760" y="566928"/>
            <a:ext cx="841248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CNN Eye Image Model — Pipeline</a:t>
            </a:r>
            <a:endParaRPr lang="en-US" sz="3000" dirty="0"/>
          </a:p>
        </p:txBody>
      </p:sp>
      <p:pic>
        <p:nvPicPr>
          <p:cNvPr id="5" name="Image 0" descr="/home/claude/ppt_imgs/eye_model_pipeline.jpg">    </p:cNvPr>
          <p:cNvPicPr>
            <a:picLocks noChangeAspect="1"/>
          </p:cNvPicPr>
          <p:nvPr/>
        </p:nvPicPr>
        <p:blipFill>
          <a:blip r:embed="rId1"/>
          <a:stretch>
            <a:fillRect/>
          </a:stretch>
        </p:blipFill>
        <p:spPr>
          <a:xfrm>
            <a:off x="228600" y="1170432"/>
            <a:ext cx="3840480" cy="4542739"/>
          </a:xfrm>
          <a:prstGeom prst="rect">
            <a:avLst/>
          </a:prstGeom>
        </p:spPr>
      </p:pic>
      <p:sp>
        <p:nvSpPr>
          <p:cNvPr id="6" name="Shape 3"/>
          <p:cNvSpPr/>
          <p:nvPr/>
        </p:nvSpPr>
        <p:spPr>
          <a:xfrm>
            <a:off x="4206240" y="1170432"/>
            <a:ext cx="4617720" cy="1005840"/>
          </a:xfrm>
          <a:prstGeom prst="roundRect">
            <a:avLst>
              <a:gd name="adj" fmla="val 10909"/>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7" name="Text 4"/>
          <p:cNvSpPr/>
          <p:nvPr/>
        </p:nvSpPr>
        <p:spPr>
          <a:xfrm>
            <a:off x="4343400" y="1234440"/>
            <a:ext cx="4297680" cy="274320"/>
          </a:xfrm>
          <a:prstGeom prst="rect">
            <a:avLst/>
          </a:prstGeom>
          <a:noFill/>
          <a:ln/>
        </p:spPr>
        <p:txBody>
          <a:bodyPr wrap="square"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Architecture — 4 Conv Blocks</a:t>
            </a:r>
            <a:endParaRPr lang="en-US" sz="1200" dirty="0"/>
          </a:p>
        </p:txBody>
      </p:sp>
      <p:sp>
        <p:nvSpPr>
          <p:cNvPr id="8" name="Text 5"/>
          <p:cNvSpPr/>
          <p:nvPr/>
        </p:nvSpPr>
        <p:spPr>
          <a:xfrm>
            <a:off x="4343400" y="1508760"/>
            <a:ext cx="4297680" cy="548640"/>
          </a:xfrm>
          <a:prstGeom prst="rect">
            <a:avLst/>
          </a:prstGeom>
          <a:noFill/>
          <a:ln/>
        </p:spPr>
        <p:txBody>
          <a:bodyPr wrap="square" rtlCol="0" anchor="ctr"/>
          <a:lstStyle/>
          <a:p>
            <a:pPr indent="0" marL="0">
              <a:buNone/>
            </a:pPr>
            <a:r>
              <a:rPr lang="en-US" sz="1000" dirty="0">
                <a:solidFill>
                  <a:srgbClr val="E2E8F0"/>
                </a:solidFill>
                <a:latin typeface="Calibri" pitchFamily="34" charset="0"/>
                <a:ea typeface="Calibri" pitchFamily="34" charset="-122"/>
                <a:cs typeface="Calibri" pitchFamily="34" charset="-120"/>
              </a:rPr>
              <a:t>Conv(3→32) → Conv(32→64) → Conv(64→128) → Conv(128→256) → AdaptiveAvgPool → FC(256→128→2)</a:t>
            </a:r>
            <a:endParaRPr lang="en-US" sz="1000" dirty="0"/>
          </a:p>
        </p:txBody>
      </p:sp>
      <p:sp>
        <p:nvSpPr>
          <p:cNvPr id="9" name="Shape 6"/>
          <p:cNvSpPr/>
          <p:nvPr/>
        </p:nvSpPr>
        <p:spPr>
          <a:xfrm>
            <a:off x="4206240" y="2286000"/>
            <a:ext cx="4617720" cy="1463040"/>
          </a:xfrm>
          <a:prstGeom prst="roundRect">
            <a:avLst>
              <a:gd name="adj" fmla="val 7500"/>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0" name="Text 7"/>
          <p:cNvSpPr/>
          <p:nvPr/>
        </p:nvSpPr>
        <p:spPr>
          <a:xfrm>
            <a:off x="4343400" y="2350008"/>
            <a:ext cx="4297680" cy="274320"/>
          </a:xfrm>
          <a:prstGeom prst="rect">
            <a:avLst/>
          </a:prstGeom>
          <a:noFill/>
          <a:ln/>
        </p:spPr>
        <p:txBody>
          <a:bodyPr wrap="square"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Training Config</a:t>
            </a:r>
            <a:endParaRPr lang="en-US" sz="1200" dirty="0"/>
          </a:p>
        </p:txBody>
      </p:sp>
      <p:sp>
        <p:nvSpPr>
          <p:cNvPr id="11" name="Text 8"/>
          <p:cNvSpPr/>
          <p:nvPr/>
        </p:nvSpPr>
        <p:spPr>
          <a:xfrm>
            <a:off x="4343400" y="2633472"/>
            <a:ext cx="4297680" cy="1005840"/>
          </a:xfrm>
          <a:prstGeom prst="rect">
            <a:avLst/>
          </a:prstGeom>
          <a:noFill/>
          <a:ln/>
        </p:spPr>
        <p:txBody>
          <a:bodyPr wrap="square"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Optimiser: AdamW  (lr=1e-4, wd=1e-4)</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Scheduler: Cosine Annealing</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Loss: CrossEntropy (class-weighted)</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Augmentation: flip, rotate±20°, colour jitter</a:t>
            </a:r>
            <a:endParaRPr lang="en-US" sz="1000" dirty="0"/>
          </a:p>
        </p:txBody>
      </p:sp>
      <p:sp>
        <p:nvSpPr>
          <p:cNvPr id="12" name="Shape 9"/>
          <p:cNvSpPr/>
          <p:nvPr/>
        </p:nvSpPr>
        <p:spPr>
          <a:xfrm>
            <a:off x="4206240" y="3858768"/>
            <a:ext cx="4617720" cy="749808"/>
          </a:xfrm>
          <a:prstGeom prst="roundRect">
            <a:avLst>
              <a:gd name="adj" fmla="val 14634"/>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3" name="Text 10"/>
          <p:cNvSpPr/>
          <p:nvPr/>
        </p:nvSpPr>
        <p:spPr>
          <a:xfrm>
            <a:off x="4343400" y="3931920"/>
            <a:ext cx="4297680" cy="256032"/>
          </a:xfrm>
          <a:prstGeom prst="rect">
            <a:avLst/>
          </a:prstGeom>
          <a:noFill/>
          <a:ln/>
        </p:spPr>
        <p:txBody>
          <a:bodyPr wrap="square"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Output for Fusion Module</a:t>
            </a:r>
            <a:endParaRPr lang="en-US" sz="1200" dirty="0"/>
          </a:p>
        </p:txBody>
      </p:sp>
      <p:sp>
        <p:nvSpPr>
          <p:cNvPr id="14" name="Text 11"/>
          <p:cNvSpPr/>
          <p:nvPr/>
        </p:nvSpPr>
        <p:spPr>
          <a:xfrm>
            <a:off x="4343400" y="4187952"/>
            <a:ext cx="4297680" cy="347472"/>
          </a:xfrm>
          <a:prstGeom prst="rect">
            <a:avLst/>
          </a:prstGeom>
          <a:noFill/>
          <a:ln/>
        </p:spPr>
        <p:txBody>
          <a:bodyPr wrap="square" rtlCol="0" anchor="ctr"/>
          <a:lstStyle/>
          <a:p>
            <a:pPr indent="0" marL="0">
              <a:buNone/>
            </a:pPr>
            <a:r>
              <a:rPr lang="en-US" sz="1000" dirty="0">
                <a:solidFill>
                  <a:srgbClr val="E2E8F0"/>
                </a:solidFill>
                <a:latin typeface="Calibri" pitchFamily="34" charset="0"/>
                <a:ea typeface="Calibri" pitchFamily="34" charset="-122"/>
                <a:cs typeface="Calibri" pitchFamily="34" charset="-120"/>
              </a:rPr>
              <a:t>extract_features() → 128-dim vector → feeds into Transformer Fusion (Module 4)</a:t>
            </a:r>
            <a:endParaRPr lang="en-US" sz="1000" dirty="0"/>
          </a:p>
        </p:txBody>
      </p:sp>
      <p:sp>
        <p:nvSpPr>
          <p:cNvPr id="16" name="Text 12"/>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Bhautik Gondaliya  ·  AnemiaFusionNet  ·  6/10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365760" y="228600"/>
            <a:ext cx="1463040" cy="256032"/>
          </a:xfrm>
          <a:prstGeom prst="roundRect">
            <a:avLst>
              <a:gd name="adj" fmla="val 21429"/>
            </a:avLst>
          </a:prstGeom>
          <a:solidFill>
            <a:srgbClr val="10B981"/>
          </a:solidFill>
          <a:ln/>
        </p:spPr>
      </p:sp>
      <p:sp>
        <p:nvSpPr>
          <p:cNvPr id="3" name="Text 1"/>
          <p:cNvSpPr/>
          <p:nvPr/>
        </p:nvSpPr>
        <p:spPr>
          <a:xfrm>
            <a:off x="365760" y="228600"/>
            <a:ext cx="14630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MODULE 2</a:t>
            </a:r>
            <a:endParaRPr lang="en-US" sz="900" dirty="0"/>
          </a:p>
        </p:txBody>
      </p:sp>
      <p:sp>
        <p:nvSpPr>
          <p:cNvPr id="4" name="Text 2"/>
          <p:cNvSpPr/>
          <p:nvPr/>
        </p:nvSpPr>
        <p:spPr>
          <a:xfrm>
            <a:off x="365760" y="566928"/>
            <a:ext cx="841248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Clinical ML Model — Pipeline</a:t>
            </a:r>
            <a:endParaRPr lang="en-US" sz="3000" dirty="0"/>
          </a:p>
        </p:txBody>
      </p:sp>
      <p:pic>
        <p:nvPicPr>
          <p:cNvPr id="5" name="Image 0" descr="/home/claude/ppt_imgs/clinical_model_pipeline.jpg">    </p:cNvPr>
          <p:cNvPicPr>
            <a:picLocks noChangeAspect="1"/>
          </p:cNvPicPr>
          <p:nvPr/>
        </p:nvPicPr>
        <p:blipFill>
          <a:blip r:embed="rId1"/>
          <a:stretch>
            <a:fillRect/>
          </a:stretch>
        </p:blipFill>
        <p:spPr>
          <a:xfrm>
            <a:off x="182880" y="1170432"/>
            <a:ext cx="3291840" cy="4232366"/>
          </a:xfrm>
          <a:prstGeom prst="rect">
            <a:avLst/>
          </a:prstGeom>
        </p:spPr>
      </p:pic>
      <p:sp>
        <p:nvSpPr>
          <p:cNvPr id="6" name="Shape 3"/>
          <p:cNvSpPr/>
          <p:nvPr/>
        </p:nvSpPr>
        <p:spPr>
          <a:xfrm>
            <a:off x="3611880" y="1170432"/>
            <a:ext cx="5212080" cy="1874520"/>
          </a:xfrm>
          <a:prstGeom prst="roundRect">
            <a:avLst>
              <a:gd name="adj" fmla="val 5854"/>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7" name="Text 4"/>
          <p:cNvSpPr/>
          <p:nvPr/>
        </p:nvSpPr>
        <p:spPr>
          <a:xfrm>
            <a:off x="3749040" y="1234440"/>
            <a:ext cx="4937760" cy="274320"/>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7 Engineered Features</a:t>
            </a:r>
            <a:endParaRPr lang="en-US" sz="1200" dirty="0"/>
          </a:p>
        </p:txBody>
      </p:sp>
      <p:sp>
        <p:nvSpPr>
          <p:cNvPr id="8" name="Text 5"/>
          <p:cNvSpPr/>
          <p:nvPr/>
        </p:nvSpPr>
        <p:spPr>
          <a:xfrm>
            <a:off x="3749040" y="1508760"/>
            <a:ext cx="4937760" cy="1417320"/>
          </a:xfrm>
          <a:prstGeom prst="rect">
            <a:avLst/>
          </a:prstGeom>
          <a:noFill/>
          <a:ln/>
        </p:spPr>
        <p:txBody>
          <a:bodyPr wrap="square" rtlCol="0" anchor="ctr"/>
          <a:lstStyle/>
          <a:p>
            <a:pPr marL="342900" indent="-342900">
              <a:spcAft>
                <a:spcPts val="200"/>
              </a:spcAft>
              <a:buSzPct val="100000"/>
              <a:buChar char="•"/>
            </a:pPr>
            <a:r>
              <a:rPr lang="en-US" sz="950" dirty="0">
                <a:solidFill>
                  <a:srgbClr val="E2E8F0"/>
                </a:solidFill>
                <a:latin typeface="Calibri" pitchFamily="34" charset="0"/>
                <a:ea typeface="Calibri" pitchFamily="34" charset="-122"/>
                <a:cs typeface="Calibri" pitchFamily="34" charset="-120"/>
              </a:rPr>
              <a:t>pallor_index = (R-G)/(R+B) — colour pallor signal</a:t>
            </a:r>
            <a:endParaRPr lang="en-US" sz="950" dirty="0"/>
          </a:p>
          <a:p>
            <a:pPr marL="342900" indent="-342900">
              <a:spcAft>
                <a:spcPts val="200"/>
              </a:spcAft>
              <a:buSzPct val="100000"/>
              <a:buChar char="•"/>
            </a:pPr>
            <a:r>
              <a:rPr lang="en-US" sz="950" dirty="0">
                <a:solidFill>
                  <a:srgbClr val="E2E8F0"/>
                </a:solidFill>
                <a:latin typeface="Calibri" pitchFamily="34" charset="0"/>
                <a:ea typeface="Calibri" pitchFamily="34" charset="-122"/>
                <a:cs typeface="Calibri" pitchFamily="34" charset="-120"/>
              </a:rPr>
              <a:t>anemia_risk_score — Hgb&lt;12 + MCV&lt;80 + Hct&lt;36 (0-3)</a:t>
            </a:r>
            <a:endParaRPr lang="en-US" sz="950" dirty="0"/>
          </a:p>
          <a:p>
            <a:pPr marL="342900" indent="-342900">
              <a:spcAft>
                <a:spcPts val="200"/>
              </a:spcAft>
              <a:buSzPct val="100000"/>
              <a:buChar char="•"/>
            </a:pPr>
            <a:r>
              <a:rPr lang="en-US" sz="950" dirty="0">
                <a:solidFill>
                  <a:srgbClr val="E2E8F0"/>
                </a:solidFill>
                <a:latin typeface="Calibri" pitchFamily="34" charset="0"/>
                <a:ea typeface="Calibri" pitchFamily="34" charset="-122"/>
                <a:cs typeface="Calibri" pitchFamily="34" charset="-120"/>
              </a:rPr>
              <a:t>shape_complexity = perimeter / √area</a:t>
            </a:r>
            <a:endParaRPr lang="en-US" sz="950" dirty="0"/>
          </a:p>
          <a:p>
            <a:pPr marL="342900" indent="-342900">
              <a:spcAft>
                <a:spcPts val="200"/>
              </a:spcAft>
              <a:buSzPct val="100000"/>
              <a:buChar char="•"/>
            </a:pPr>
            <a:r>
              <a:rPr lang="en-US" sz="950" dirty="0">
                <a:solidFill>
                  <a:srgbClr val="E2E8F0"/>
                </a:solidFill>
                <a:latin typeface="Calibri" pitchFamily="34" charset="0"/>
                <a:ea typeface="Calibri" pitchFamily="34" charset="-122"/>
                <a:cs typeface="Calibri" pitchFamily="34" charset="-120"/>
              </a:rPr>
              <a:t>green_red_ratio — stain shift in anemic cells</a:t>
            </a:r>
            <a:endParaRPr lang="en-US" sz="950" dirty="0"/>
          </a:p>
          <a:p>
            <a:pPr marL="342900" indent="-342900">
              <a:spcAft>
                <a:spcPts val="200"/>
              </a:spcAft>
              <a:buSzPct val="100000"/>
              <a:buChar char="•"/>
            </a:pPr>
            <a:r>
              <a:rPr lang="en-US" sz="950" dirty="0">
                <a:solidFill>
                  <a:srgbClr val="E2E8F0"/>
                </a:solidFill>
                <a:latin typeface="Calibri" pitchFamily="34" charset="0"/>
                <a:ea typeface="Calibri" pitchFamily="34" charset="-122"/>
                <a:cs typeface="Calibri" pitchFamily="34" charset="-120"/>
              </a:rPr>
              <a:t>morph_score — weighted shape composite</a:t>
            </a:r>
            <a:endParaRPr lang="en-US" sz="950" dirty="0"/>
          </a:p>
          <a:p>
            <a:pPr marL="342900" indent="-342900">
              <a:spcAft>
                <a:spcPts val="200"/>
              </a:spcAft>
              <a:buSzPct val="100000"/>
              <a:buChar char="•"/>
            </a:pPr>
            <a:r>
              <a:rPr lang="en-US" sz="950" dirty="0">
                <a:solidFill>
                  <a:srgbClr val="E2E8F0"/>
                </a:solidFill>
                <a:latin typeface="Calibri" pitchFamily="34" charset="0"/>
                <a:ea typeface="Calibri" pitchFamily="34" charset="-122"/>
                <a:cs typeface="Calibri" pitchFamily="34" charset="-120"/>
              </a:rPr>
              <a:t>mch_approx = Hgb / RBC count</a:t>
            </a:r>
            <a:endParaRPr lang="en-US" sz="950" dirty="0"/>
          </a:p>
          <a:p>
            <a:pPr marL="342900" indent="-342900">
              <a:spcAft>
                <a:spcPts val="200"/>
              </a:spcAft>
              <a:buSzPct val="100000"/>
              <a:buChar char="•"/>
            </a:pPr>
            <a:r>
              <a:rPr lang="en-US" sz="950" dirty="0">
                <a:solidFill>
                  <a:srgbClr val="E2E8F0"/>
                </a:solidFill>
                <a:latin typeface="Calibri" pitchFamily="34" charset="0"/>
                <a:ea typeface="Calibri" pitchFamily="34" charset="-122"/>
                <a:cs typeface="Calibri" pitchFamily="34" charset="-120"/>
              </a:rPr>
              <a:t>nucleus_to_cell_ratio — nucleus size signal</a:t>
            </a:r>
            <a:endParaRPr lang="en-US" sz="950" dirty="0"/>
          </a:p>
        </p:txBody>
      </p:sp>
      <p:sp>
        <p:nvSpPr>
          <p:cNvPr id="9" name="Shape 6"/>
          <p:cNvSpPr/>
          <p:nvPr/>
        </p:nvSpPr>
        <p:spPr>
          <a:xfrm>
            <a:off x="3611880" y="3154680"/>
            <a:ext cx="5212080" cy="1005840"/>
          </a:xfrm>
          <a:prstGeom prst="roundRect">
            <a:avLst>
              <a:gd name="adj" fmla="val 10909"/>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0" name="Text 7"/>
          <p:cNvSpPr/>
          <p:nvPr/>
        </p:nvSpPr>
        <p:spPr>
          <a:xfrm>
            <a:off x="3749040" y="3218688"/>
            <a:ext cx="4937760" cy="256032"/>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5-Fold Cross-Validation — Model Comparison</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749040" y="3493008"/>
          <a:ext cx="4937760" cy="566928"/>
        </p:xfrm>
        <a:graphic>
          <a:graphicData uri="http://schemas.openxmlformats.org/drawingml/2006/table">
            <a:tbl>
              <a:tblPr/>
              <a:tblGrid>
                <a:gridCol w="1920240"/>
                <a:gridCol w="1005840"/>
                <a:gridCol w="2011680"/>
              </a:tblGrid>
              <a:tr h="11338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Selected</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Note</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F4E79"/>
                    </a:solidFill>
                  </a:tcPr>
                </a:tc>
              </a:tr>
              <a:tr h="113386">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XGBoost</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Strong baseline</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r>
              <a:tr h="113386">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RandomForest</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 Best</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Best F1 on CV</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r>
              <a:tr h="113386">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Gradient Boosting</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Robust alternative</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r>
              <a:tr h="113386">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Logistic Regression</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Interpretable baseline</a:t>
                      </a:r>
                      <a:endParaRPr lang="en-US" sz="9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tcPr>
                </a:tc>
              </a:tr>
            </a:tbl>
          </a:graphicData>
        </a:graphic>
      </p:graphicFrame>
      <p:sp>
        <p:nvSpPr>
          <p:cNvPr id="12" name="Shape 8"/>
          <p:cNvSpPr/>
          <p:nvPr/>
        </p:nvSpPr>
        <p:spPr>
          <a:xfrm>
            <a:off x="3611880" y="4251960"/>
            <a:ext cx="5212080" cy="594360"/>
          </a:xfrm>
          <a:prstGeom prst="roundRect">
            <a:avLst>
              <a:gd name="adj" fmla="val 18462"/>
            </a:avLst>
          </a:prstGeom>
          <a:solidFill>
            <a:srgbClr val="1A2744"/>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3" name="Text 9"/>
          <p:cNvSpPr/>
          <p:nvPr/>
        </p:nvSpPr>
        <p:spPr>
          <a:xfrm>
            <a:off x="3749040" y="4325112"/>
            <a:ext cx="4937760" cy="448056"/>
          </a:xfrm>
          <a:prstGeom prst="rect">
            <a:avLst/>
          </a:prstGeom>
          <a:noFill/>
          <a:ln/>
        </p:spPr>
        <p:txBody>
          <a:bodyPr wrap="square"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Outputs: clinical_model.pkl  ·  feature_importance.png  ·  clinical_roc_pr.png</a:t>
            </a:r>
            <a:endParaRPr lang="en-US" sz="1000" dirty="0"/>
          </a:p>
        </p:txBody>
      </p:sp>
      <p:sp>
        <p:nvSpPr>
          <p:cNvPr id="15" name="Text 10"/>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Bhautik Gondaliya  ·  AnemiaFusionNet  ·  7/10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365760" y="228600"/>
            <a:ext cx="1463040" cy="256032"/>
          </a:xfrm>
          <a:prstGeom prst="roundRect">
            <a:avLst>
              <a:gd name="adj" fmla="val 21429"/>
            </a:avLst>
          </a:prstGeom>
          <a:solidFill>
            <a:srgbClr val="8B5CF6"/>
          </a:solidFill>
          <a:ln/>
        </p:spPr>
      </p:sp>
      <p:sp>
        <p:nvSpPr>
          <p:cNvPr id="3" name="Text 1"/>
          <p:cNvSpPr/>
          <p:nvPr/>
        </p:nvSpPr>
        <p:spPr>
          <a:xfrm>
            <a:off x="365760" y="228600"/>
            <a:ext cx="14630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RESULTS</a:t>
            </a:r>
            <a:endParaRPr lang="en-US" sz="900" dirty="0"/>
          </a:p>
        </p:txBody>
      </p:sp>
      <p:sp>
        <p:nvSpPr>
          <p:cNvPr id="4" name="Text 2"/>
          <p:cNvSpPr/>
          <p:nvPr/>
        </p:nvSpPr>
        <p:spPr>
          <a:xfrm>
            <a:off x="365760" y="566928"/>
            <a:ext cx="841248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Model Performance — Evaluation Results</a:t>
            </a:r>
            <a:endParaRPr lang="en-US" sz="3000" dirty="0"/>
          </a:p>
        </p:txBody>
      </p:sp>
      <p:sp>
        <p:nvSpPr>
          <p:cNvPr id="5" name="Text 3"/>
          <p:cNvSpPr/>
          <p:nvPr/>
        </p:nvSpPr>
        <p:spPr>
          <a:xfrm>
            <a:off x="320040" y="1188720"/>
            <a:ext cx="4937760" cy="274320"/>
          </a:xfrm>
          <a:prstGeom prst="rect">
            <a:avLst/>
          </a:prstGeom>
          <a:noFill/>
          <a:ln/>
        </p:spPr>
        <p:txBody>
          <a:bodyPr wrap="square"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CNN Eye Model — Training History</a:t>
            </a:r>
            <a:endParaRPr lang="en-US" sz="1200" dirty="0"/>
          </a:p>
        </p:txBody>
      </p:sp>
      <p:pic>
        <p:nvPicPr>
          <p:cNvPr id="6" name="Image 0" descr="/home/claude/ppt_imgs/eval_training.jpg">    </p:cNvPr>
          <p:cNvPicPr>
            <a:picLocks noChangeAspect="1"/>
          </p:cNvPicPr>
          <p:nvPr/>
        </p:nvPicPr>
        <p:blipFill>
          <a:blip r:embed="rId1"/>
          <a:stretch>
            <a:fillRect/>
          </a:stretch>
        </p:blipFill>
        <p:spPr>
          <a:xfrm>
            <a:off x="320040" y="1481328"/>
            <a:ext cx="4937760" cy="1290802"/>
          </a:xfrm>
          <a:prstGeom prst="rect">
            <a:avLst/>
          </a:prstGeom>
        </p:spPr>
      </p:pic>
      <p:sp>
        <p:nvSpPr>
          <p:cNvPr id="7" name="Text 4"/>
          <p:cNvSpPr/>
          <p:nvPr/>
        </p:nvSpPr>
        <p:spPr>
          <a:xfrm>
            <a:off x="320040" y="2697480"/>
            <a:ext cx="4937760" cy="274320"/>
          </a:xfrm>
          <a:prstGeom prst="rect">
            <a:avLst/>
          </a:prstGeom>
          <a:noFill/>
          <a:ln/>
        </p:spPr>
        <p:txBody>
          <a:bodyPr wrap="square"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Confusion Matrix + ROC Curve</a:t>
            </a:r>
            <a:endParaRPr lang="en-US" sz="1200" dirty="0"/>
          </a:p>
        </p:txBody>
      </p:sp>
      <p:pic>
        <p:nvPicPr>
          <p:cNvPr id="8" name="Image 1" descr="/home/claude/ppt_imgs/eval_cm_cnn.jpg">    </p:cNvPr>
          <p:cNvPicPr>
            <a:picLocks noChangeAspect="1"/>
          </p:cNvPicPr>
          <p:nvPr/>
        </p:nvPicPr>
        <p:blipFill>
          <a:blip r:embed="rId2"/>
          <a:stretch>
            <a:fillRect/>
          </a:stretch>
        </p:blipFill>
        <p:spPr>
          <a:xfrm>
            <a:off x="320040" y="2999232"/>
            <a:ext cx="4937760" cy="1756790"/>
          </a:xfrm>
          <a:prstGeom prst="rect">
            <a:avLst/>
          </a:prstGeom>
        </p:spPr>
      </p:pic>
      <p:sp>
        <p:nvSpPr>
          <p:cNvPr id="9" name="Shape 5"/>
          <p:cNvSpPr/>
          <p:nvPr/>
        </p:nvSpPr>
        <p:spPr>
          <a:xfrm>
            <a:off x="5394960" y="1170432"/>
            <a:ext cx="3429000" cy="1481328"/>
          </a:xfrm>
          <a:prstGeom prst="roundRect">
            <a:avLst>
              <a:gd name="adj" fmla="val 740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0" name="Text 6"/>
          <p:cNvSpPr/>
          <p:nvPr/>
        </p:nvSpPr>
        <p:spPr>
          <a:xfrm>
            <a:off x="5532120" y="1234440"/>
            <a:ext cx="3154680" cy="292608"/>
          </a:xfrm>
          <a:prstGeom prst="rect">
            <a:avLst/>
          </a:prstGeom>
          <a:noFill/>
          <a:ln/>
        </p:spPr>
        <p:txBody>
          <a:bodyPr wrap="square" rtlCol="0" anchor="ctr"/>
          <a:lstStyle/>
          <a:p>
            <a:pPr indent="0" marL="0">
              <a:buNone/>
            </a:pPr>
            <a:r>
              <a:rPr lang="en-US" sz="1300" b="1" dirty="0">
                <a:solidFill>
                  <a:srgbClr val="06B6D4"/>
                </a:solidFill>
                <a:latin typeface="Calibri" pitchFamily="34" charset="0"/>
                <a:ea typeface="Calibri" pitchFamily="34" charset="-122"/>
                <a:cs typeface="Calibri" pitchFamily="34" charset="-120"/>
              </a:rPr>
              <a:t>CNN Eye Model</a:t>
            </a:r>
            <a:endParaRPr lang="en-US" sz="1300" dirty="0"/>
          </a:p>
        </p:txBody>
      </p:sp>
      <p:sp>
        <p:nvSpPr>
          <p:cNvPr id="11" name="Text 7"/>
          <p:cNvSpPr/>
          <p:nvPr/>
        </p:nvSpPr>
        <p:spPr>
          <a:xfrm>
            <a:off x="5532120" y="1554480"/>
            <a:ext cx="150876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Test Accuracy</a:t>
            </a:r>
            <a:endParaRPr lang="en-US" sz="1050" dirty="0"/>
          </a:p>
        </p:txBody>
      </p:sp>
      <p:sp>
        <p:nvSpPr>
          <p:cNvPr id="12" name="Text 8"/>
          <p:cNvSpPr/>
          <p:nvPr/>
        </p:nvSpPr>
        <p:spPr>
          <a:xfrm>
            <a:off x="7040880" y="1554480"/>
            <a:ext cx="1600200" cy="274320"/>
          </a:xfrm>
          <a:prstGeom prst="rect">
            <a:avLst/>
          </a:prstGeom>
          <a:noFill/>
          <a:ln/>
        </p:spPr>
        <p:txBody>
          <a:bodyPr wrap="square" rtlCol="0" anchor="ctr"/>
          <a:lstStyle/>
          <a:p>
            <a:pPr algn="r" indent="0" marL="0">
              <a:buNone/>
            </a:pPr>
            <a:r>
              <a:rPr lang="en-US" sz="1050" b="1" dirty="0">
                <a:solidFill>
                  <a:srgbClr val="06B6D4"/>
                </a:solidFill>
                <a:latin typeface="Calibri" pitchFamily="34" charset="0"/>
                <a:ea typeface="Calibri" pitchFamily="34" charset="-122"/>
                <a:cs typeface="Calibri" pitchFamily="34" charset="-120"/>
              </a:rPr>
              <a:t>~57%</a:t>
            </a:r>
            <a:endParaRPr lang="en-US" sz="1050" dirty="0"/>
          </a:p>
        </p:txBody>
      </p:sp>
      <p:sp>
        <p:nvSpPr>
          <p:cNvPr id="13" name="Text 9"/>
          <p:cNvSpPr/>
          <p:nvPr/>
        </p:nvSpPr>
        <p:spPr>
          <a:xfrm>
            <a:off x="5532120" y="1874520"/>
            <a:ext cx="150876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AUC-ROC</a:t>
            </a:r>
            <a:endParaRPr lang="en-US" sz="1050" dirty="0"/>
          </a:p>
        </p:txBody>
      </p:sp>
      <p:sp>
        <p:nvSpPr>
          <p:cNvPr id="14" name="Text 10"/>
          <p:cNvSpPr/>
          <p:nvPr/>
        </p:nvSpPr>
        <p:spPr>
          <a:xfrm>
            <a:off x="7040880" y="1874520"/>
            <a:ext cx="1600200" cy="274320"/>
          </a:xfrm>
          <a:prstGeom prst="rect">
            <a:avLst/>
          </a:prstGeom>
          <a:noFill/>
          <a:ln/>
        </p:spPr>
        <p:txBody>
          <a:bodyPr wrap="square" rtlCol="0" anchor="ctr"/>
          <a:lstStyle/>
          <a:p>
            <a:pPr algn="r" indent="0" marL="0">
              <a:buNone/>
            </a:pPr>
            <a:r>
              <a:rPr lang="en-US" sz="1050" b="1" dirty="0">
                <a:solidFill>
                  <a:srgbClr val="06B6D4"/>
                </a:solidFill>
                <a:latin typeface="Calibri" pitchFamily="34" charset="0"/>
                <a:ea typeface="Calibri" pitchFamily="34" charset="-122"/>
                <a:cs typeface="Calibri" pitchFamily="34" charset="-120"/>
              </a:rPr>
              <a:t>0.501–0.574</a:t>
            </a:r>
            <a:endParaRPr lang="en-US" sz="1050" dirty="0"/>
          </a:p>
        </p:txBody>
      </p:sp>
      <p:sp>
        <p:nvSpPr>
          <p:cNvPr id="15" name="Text 11"/>
          <p:cNvSpPr/>
          <p:nvPr/>
        </p:nvSpPr>
        <p:spPr>
          <a:xfrm>
            <a:off x="5532120" y="2194560"/>
            <a:ext cx="150876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True Positive Rate</a:t>
            </a:r>
            <a:endParaRPr lang="en-US" sz="1050" dirty="0"/>
          </a:p>
        </p:txBody>
      </p:sp>
      <p:sp>
        <p:nvSpPr>
          <p:cNvPr id="16" name="Text 12"/>
          <p:cNvSpPr/>
          <p:nvPr/>
        </p:nvSpPr>
        <p:spPr>
          <a:xfrm>
            <a:off x="7040880" y="2194560"/>
            <a:ext cx="1600200" cy="274320"/>
          </a:xfrm>
          <a:prstGeom prst="rect">
            <a:avLst/>
          </a:prstGeom>
          <a:noFill/>
          <a:ln/>
        </p:spPr>
        <p:txBody>
          <a:bodyPr wrap="square" rtlCol="0" anchor="ctr"/>
          <a:lstStyle/>
          <a:p>
            <a:pPr algn="r" indent="0" marL="0">
              <a:buNone/>
            </a:pPr>
            <a:r>
              <a:rPr lang="en-US" sz="1050" b="1" dirty="0">
                <a:solidFill>
                  <a:srgbClr val="06B6D4"/>
                </a:solidFill>
                <a:latin typeface="Calibri" pitchFamily="34" charset="0"/>
                <a:ea typeface="Calibri" pitchFamily="34" charset="-122"/>
                <a:cs typeface="Calibri" pitchFamily="34" charset="-120"/>
              </a:rPr>
              <a:t>70% Anemic</a:t>
            </a:r>
            <a:endParaRPr lang="en-US" sz="1050" dirty="0"/>
          </a:p>
        </p:txBody>
      </p:sp>
      <p:sp>
        <p:nvSpPr>
          <p:cNvPr id="17" name="Text 13"/>
          <p:cNvSpPr/>
          <p:nvPr/>
        </p:nvSpPr>
        <p:spPr>
          <a:xfrm>
            <a:off x="5532120" y="2514600"/>
            <a:ext cx="150876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Key issue</a:t>
            </a:r>
            <a:endParaRPr lang="en-US" sz="1050" dirty="0"/>
          </a:p>
        </p:txBody>
      </p:sp>
      <p:sp>
        <p:nvSpPr>
          <p:cNvPr id="18" name="Text 14"/>
          <p:cNvSpPr/>
          <p:nvPr/>
        </p:nvSpPr>
        <p:spPr>
          <a:xfrm>
            <a:off x="7040880" y="2514600"/>
            <a:ext cx="1600200" cy="274320"/>
          </a:xfrm>
          <a:prstGeom prst="rect">
            <a:avLst/>
          </a:prstGeom>
          <a:noFill/>
          <a:ln/>
        </p:spPr>
        <p:txBody>
          <a:bodyPr wrap="square" rtlCol="0" anchor="ctr"/>
          <a:lstStyle/>
          <a:p>
            <a:pPr algn="r" indent="0" marL="0">
              <a:buNone/>
            </a:pPr>
            <a:r>
              <a:rPr lang="en-US" sz="1050" b="1" dirty="0">
                <a:solidFill>
                  <a:srgbClr val="06B6D4"/>
                </a:solidFill>
                <a:latin typeface="Calibri" pitchFamily="34" charset="0"/>
                <a:ea typeface="Calibri" pitchFamily="34" charset="-122"/>
                <a:cs typeface="Calibri" pitchFamily="34" charset="-120"/>
              </a:rPr>
              <a:t>Small dataset</a:t>
            </a:r>
            <a:endParaRPr lang="en-US" sz="1050" dirty="0"/>
          </a:p>
        </p:txBody>
      </p:sp>
      <p:sp>
        <p:nvSpPr>
          <p:cNvPr id="19" name="Shape 15"/>
          <p:cNvSpPr/>
          <p:nvPr/>
        </p:nvSpPr>
        <p:spPr>
          <a:xfrm>
            <a:off x="5394960" y="2743200"/>
            <a:ext cx="3429000" cy="1737360"/>
          </a:xfrm>
          <a:prstGeom prst="roundRect">
            <a:avLst>
              <a:gd name="adj" fmla="val 6316"/>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20" name="Text 16"/>
          <p:cNvSpPr/>
          <p:nvPr/>
        </p:nvSpPr>
        <p:spPr>
          <a:xfrm>
            <a:off x="5532120" y="2807208"/>
            <a:ext cx="3154680" cy="292608"/>
          </a:xfrm>
          <a:prstGeom prst="rect">
            <a:avLst/>
          </a:prstGeom>
          <a:noFill/>
          <a:ln/>
        </p:spPr>
        <p:txBody>
          <a:bodyPr wrap="square"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Clinical ML Model</a:t>
            </a:r>
            <a:endParaRPr lang="en-US" sz="1300" dirty="0"/>
          </a:p>
        </p:txBody>
      </p:sp>
      <p:sp>
        <p:nvSpPr>
          <p:cNvPr id="21" name="Text 17"/>
          <p:cNvSpPr/>
          <p:nvPr/>
        </p:nvSpPr>
        <p:spPr>
          <a:xfrm>
            <a:off x="5532120" y="3136392"/>
            <a:ext cx="150876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Test Accuracy</a:t>
            </a:r>
            <a:endParaRPr lang="en-US" sz="1000" dirty="0"/>
          </a:p>
        </p:txBody>
      </p:sp>
      <p:sp>
        <p:nvSpPr>
          <p:cNvPr id="22" name="Text 18"/>
          <p:cNvSpPr/>
          <p:nvPr/>
        </p:nvSpPr>
        <p:spPr>
          <a:xfrm>
            <a:off x="7040880" y="3136392"/>
            <a:ext cx="1600200" cy="228600"/>
          </a:xfrm>
          <a:prstGeom prst="rect">
            <a:avLst/>
          </a:prstGeom>
          <a:noFill/>
          <a:ln/>
        </p:spPr>
        <p:txBody>
          <a:bodyPr wrap="square" rtlCol="0" anchor="ctr"/>
          <a:lstStyle/>
          <a:p>
            <a:pPr algn="r" indent="0" marL="0">
              <a:buNone/>
            </a:pPr>
            <a:r>
              <a:rPr lang="en-US" sz="1000" b="1" dirty="0">
                <a:solidFill>
                  <a:srgbClr val="10B981"/>
                </a:solidFill>
                <a:latin typeface="Calibri" pitchFamily="34" charset="0"/>
                <a:ea typeface="Calibri" pitchFamily="34" charset="-122"/>
                <a:cs typeface="Calibri" pitchFamily="34" charset="-120"/>
              </a:rPr>
              <a:t>~100%</a:t>
            </a:r>
            <a:endParaRPr lang="en-US" sz="1000" dirty="0"/>
          </a:p>
        </p:txBody>
      </p:sp>
      <p:sp>
        <p:nvSpPr>
          <p:cNvPr id="23" name="Text 19"/>
          <p:cNvSpPr/>
          <p:nvPr/>
        </p:nvSpPr>
        <p:spPr>
          <a:xfrm>
            <a:off x="5532120" y="3392424"/>
            <a:ext cx="150876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AUC-ROC</a:t>
            </a:r>
            <a:endParaRPr lang="en-US" sz="1000" dirty="0"/>
          </a:p>
        </p:txBody>
      </p:sp>
      <p:sp>
        <p:nvSpPr>
          <p:cNvPr id="24" name="Text 20"/>
          <p:cNvSpPr/>
          <p:nvPr/>
        </p:nvSpPr>
        <p:spPr>
          <a:xfrm>
            <a:off x="7040880" y="3392424"/>
            <a:ext cx="1600200" cy="228600"/>
          </a:xfrm>
          <a:prstGeom prst="rect">
            <a:avLst/>
          </a:prstGeom>
          <a:noFill/>
          <a:ln/>
        </p:spPr>
        <p:txBody>
          <a:bodyPr wrap="square" rtlCol="0" anchor="ctr"/>
          <a:lstStyle/>
          <a:p>
            <a:pPr algn="r" indent="0" marL="0">
              <a:buNone/>
            </a:pPr>
            <a:r>
              <a:rPr lang="en-US" sz="1000" b="1" dirty="0">
                <a:solidFill>
                  <a:srgbClr val="10B981"/>
                </a:solidFill>
                <a:latin typeface="Calibri" pitchFamily="34" charset="0"/>
                <a:ea typeface="Calibri" pitchFamily="34" charset="-122"/>
                <a:cs typeface="Calibri" pitchFamily="34" charset="-120"/>
              </a:rPr>
              <a:t>1.000</a:t>
            </a:r>
            <a:endParaRPr lang="en-US" sz="1000" dirty="0"/>
          </a:p>
        </p:txBody>
      </p:sp>
      <p:sp>
        <p:nvSpPr>
          <p:cNvPr id="25" name="Text 21"/>
          <p:cNvSpPr/>
          <p:nvPr/>
        </p:nvSpPr>
        <p:spPr>
          <a:xfrm>
            <a:off x="5532120" y="3648456"/>
            <a:ext cx="150876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F1 Score</a:t>
            </a:r>
            <a:endParaRPr lang="en-US" sz="1000" dirty="0"/>
          </a:p>
        </p:txBody>
      </p:sp>
      <p:sp>
        <p:nvSpPr>
          <p:cNvPr id="26" name="Text 22"/>
          <p:cNvSpPr/>
          <p:nvPr/>
        </p:nvSpPr>
        <p:spPr>
          <a:xfrm>
            <a:off x="7040880" y="3648456"/>
            <a:ext cx="1600200" cy="228600"/>
          </a:xfrm>
          <a:prstGeom prst="rect">
            <a:avLst/>
          </a:prstGeom>
          <a:noFill/>
          <a:ln/>
        </p:spPr>
        <p:txBody>
          <a:bodyPr wrap="square" rtlCol="0" anchor="ctr"/>
          <a:lstStyle/>
          <a:p>
            <a:pPr algn="r" indent="0" marL="0">
              <a:buNone/>
            </a:pPr>
            <a:r>
              <a:rPr lang="en-US" sz="1000" b="1" dirty="0">
                <a:solidFill>
                  <a:srgbClr val="10B981"/>
                </a:solidFill>
                <a:latin typeface="Calibri" pitchFamily="34" charset="0"/>
                <a:ea typeface="Calibri" pitchFamily="34" charset="-122"/>
                <a:cs typeface="Calibri" pitchFamily="34" charset="-120"/>
              </a:rPr>
              <a:t>1.000</a:t>
            </a:r>
            <a:endParaRPr lang="en-US" sz="1000" dirty="0"/>
          </a:p>
        </p:txBody>
      </p:sp>
      <p:sp>
        <p:nvSpPr>
          <p:cNvPr id="27" name="Text 23"/>
          <p:cNvSpPr/>
          <p:nvPr/>
        </p:nvSpPr>
        <p:spPr>
          <a:xfrm>
            <a:off x="5532120" y="3904488"/>
            <a:ext cx="150876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Precision</a:t>
            </a:r>
            <a:endParaRPr lang="en-US" sz="1000" dirty="0"/>
          </a:p>
        </p:txBody>
      </p:sp>
      <p:sp>
        <p:nvSpPr>
          <p:cNvPr id="28" name="Text 24"/>
          <p:cNvSpPr/>
          <p:nvPr/>
        </p:nvSpPr>
        <p:spPr>
          <a:xfrm>
            <a:off x="7040880" y="3904488"/>
            <a:ext cx="1600200" cy="228600"/>
          </a:xfrm>
          <a:prstGeom prst="rect">
            <a:avLst/>
          </a:prstGeom>
          <a:noFill/>
          <a:ln/>
        </p:spPr>
        <p:txBody>
          <a:bodyPr wrap="square" rtlCol="0" anchor="ctr"/>
          <a:lstStyle/>
          <a:p>
            <a:pPr algn="r" indent="0" marL="0">
              <a:buNone/>
            </a:pPr>
            <a:r>
              <a:rPr lang="en-US" sz="1000" b="1" dirty="0">
                <a:solidFill>
                  <a:srgbClr val="10B981"/>
                </a:solidFill>
                <a:latin typeface="Calibri" pitchFamily="34" charset="0"/>
                <a:ea typeface="Calibri" pitchFamily="34" charset="-122"/>
                <a:cs typeface="Calibri" pitchFamily="34" charset="-120"/>
              </a:rPr>
              <a:t>1.000</a:t>
            </a:r>
            <a:endParaRPr lang="en-US" sz="1000" dirty="0"/>
          </a:p>
        </p:txBody>
      </p:sp>
      <p:sp>
        <p:nvSpPr>
          <p:cNvPr id="29" name="Text 25"/>
          <p:cNvSpPr/>
          <p:nvPr/>
        </p:nvSpPr>
        <p:spPr>
          <a:xfrm>
            <a:off x="5532120" y="4160520"/>
            <a:ext cx="150876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Recall</a:t>
            </a:r>
            <a:endParaRPr lang="en-US" sz="1000" dirty="0"/>
          </a:p>
        </p:txBody>
      </p:sp>
      <p:sp>
        <p:nvSpPr>
          <p:cNvPr id="30" name="Text 26"/>
          <p:cNvSpPr/>
          <p:nvPr/>
        </p:nvSpPr>
        <p:spPr>
          <a:xfrm>
            <a:off x="7040880" y="4160520"/>
            <a:ext cx="1600200" cy="228600"/>
          </a:xfrm>
          <a:prstGeom prst="rect">
            <a:avLst/>
          </a:prstGeom>
          <a:noFill/>
          <a:ln/>
        </p:spPr>
        <p:txBody>
          <a:bodyPr wrap="square" rtlCol="0" anchor="ctr"/>
          <a:lstStyle/>
          <a:p>
            <a:pPr algn="r" indent="0" marL="0">
              <a:buNone/>
            </a:pPr>
            <a:r>
              <a:rPr lang="en-US" sz="1000" b="1" dirty="0">
                <a:solidFill>
                  <a:srgbClr val="10B981"/>
                </a:solidFill>
                <a:latin typeface="Calibri" pitchFamily="34" charset="0"/>
                <a:ea typeface="Calibri" pitchFamily="34" charset="-122"/>
                <a:cs typeface="Calibri" pitchFamily="34" charset="-120"/>
              </a:rPr>
              <a:t>1.000</a:t>
            </a:r>
            <a:endParaRPr lang="en-US" sz="1000" dirty="0"/>
          </a:p>
        </p:txBody>
      </p:sp>
      <p:sp>
        <p:nvSpPr>
          <p:cNvPr id="31" name="Shape 27"/>
          <p:cNvSpPr/>
          <p:nvPr/>
        </p:nvSpPr>
        <p:spPr>
          <a:xfrm>
            <a:off x="5394960" y="4572000"/>
            <a:ext cx="3429000" cy="475488"/>
          </a:xfrm>
          <a:prstGeom prst="roundRect">
            <a:avLst>
              <a:gd name="adj" fmla="val 23077"/>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pic>
        <p:nvPicPr>
          <p:cNvPr id="32" name="Image 2" descr="preencoded.png">    </p:cNvPr>
          <p:cNvPicPr>
            <a:picLocks noChangeAspect="1"/>
          </p:cNvPicPr>
          <p:nvPr/>
        </p:nvPicPr>
        <p:blipFill>
          <a:blip r:embed="rId3"/>
          <a:stretch>
            <a:fillRect/>
          </a:stretch>
        </p:blipFill>
        <p:spPr>
          <a:xfrm>
            <a:off x="5486400" y="4626864"/>
            <a:ext cx="320040" cy="320040"/>
          </a:xfrm>
          <a:prstGeom prst="rect">
            <a:avLst/>
          </a:prstGeom>
        </p:spPr>
      </p:pic>
      <p:sp>
        <p:nvSpPr>
          <p:cNvPr id="33" name="Text 28"/>
          <p:cNvSpPr/>
          <p:nvPr/>
        </p:nvSpPr>
        <p:spPr>
          <a:xfrm>
            <a:off x="5870448" y="4617720"/>
            <a:ext cx="2834640" cy="384048"/>
          </a:xfrm>
          <a:prstGeom prst="rect">
            <a:avLst/>
          </a:prstGeom>
          <a:noFill/>
          <a:ln/>
        </p:spPr>
        <p:txBody>
          <a:bodyPr wrap="square" rtlCol="0" anchor="ctr"/>
          <a:lstStyle/>
          <a:p>
            <a:pPr indent="0" marL="0">
              <a:buNone/>
            </a:pPr>
            <a:r>
              <a:rPr lang="en-US" sz="900" dirty="0">
                <a:solidFill>
                  <a:srgbClr val="F59E0B"/>
                </a:solidFill>
                <a:latin typeface="Calibri" pitchFamily="34" charset="0"/>
                <a:ea typeface="Calibri" pitchFamily="34" charset="-122"/>
                <a:cs typeface="Calibri" pitchFamily="34" charset="-120"/>
              </a:rPr>
              <a:t>Clinical AUC=1.0 due to meta-feature leakage (cytodiffusion scores). Retrain without these for real-world use.</a:t>
            </a:r>
            <a:endParaRPr lang="en-US" sz="900" dirty="0"/>
          </a:p>
        </p:txBody>
      </p:sp>
      <p:sp>
        <p:nvSpPr>
          <p:cNvPr id="35" name="Text 29"/>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Bhautik Gondaliya  ·  AnemiaFusionNet  ·  8/10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365760" y="228600"/>
            <a:ext cx="1463040" cy="256032"/>
          </a:xfrm>
          <a:prstGeom prst="roundRect">
            <a:avLst>
              <a:gd name="adj" fmla="val 21429"/>
            </a:avLst>
          </a:prstGeom>
          <a:solidFill>
            <a:srgbClr val="3B82F6"/>
          </a:solidFill>
          <a:ln/>
        </p:spPr>
      </p:sp>
      <p:sp>
        <p:nvSpPr>
          <p:cNvPr id="3" name="Text 1"/>
          <p:cNvSpPr/>
          <p:nvPr/>
        </p:nvSpPr>
        <p:spPr>
          <a:xfrm>
            <a:off x="365760" y="228600"/>
            <a:ext cx="14630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WEB APP</a:t>
            </a:r>
            <a:endParaRPr lang="en-US" sz="900" dirty="0"/>
          </a:p>
        </p:txBody>
      </p:sp>
      <p:sp>
        <p:nvSpPr>
          <p:cNvPr id="4" name="Text 2"/>
          <p:cNvSpPr/>
          <p:nvPr/>
        </p:nvSpPr>
        <p:spPr>
          <a:xfrm>
            <a:off x="365760" y="566928"/>
            <a:ext cx="841248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Streamlit Web Application</a:t>
            </a:r>
            <a:endParaRPr lang="en-US" sz="3000" dirty="0"/>
          </a:p>
        </p:txBody>
      </p:sp>
      <p:sp>
        <p:nvSpPr>
          <p:cNvPr id="5" name="Text 3"/>
          <p:cNvSpPr/>
          <p:nvPr/>
        </p:nvSpPr>
        <p:spPr>
          <a:xfrm>
            <a:off x="320040" y="1170432"/>
            <a:ext cx="4206240" cy="274320"/>
          </a:xfrm>
          <a:prstGeom prst="rect">
            <a:avLst/>
          </a:prstGeom>
          <a:noFill/>
          <a:ln/>
        </p:spPr>
        <p:txBody>
          <a:bodyPr wrap="square" rtlCol="0" anchor="ctr"/>
          <a:lstStyle/>
          <a:p>
            <a:pPr indent="0" marL="0">
              <a:buNone/>
            </a:pPr>
            <a:r>
              <a:rPr lang="en-US" sz="1200" b="1" dirty="0">
                <a:solidFill>
                  <a:srgbClr val="3B82F6"/>
                </a:solidFill>
                <a:latin typeface="Calibri" pitchFamily="34" charset="0"/>
                <a:ea typeface="Calibri" pitchFamily="34" charset="-122"/>
                <a:cs typeface="Calibri" pitchFamily="34" charset="-120"/>
              </a:rPr>
              <a:t>File Architecture</a:t>
            </a:r>
            <a:endParaRPr lang="en-US" sz="1200" dirty="0"/>
          </a:p>
        </p:txBody>
      </p:sp>
      <p:pic>
        <p:nvPicPr>
          <p:cNvPr id="6" name="Image 0" descr="/home/claude/ppt_imgs/streamlit_app_structure.jpg">    </p:cNvPr>
          <p:cNvPicPr>
            <a:picLocks noChangeAspect="1"/>
          </p:cNvPicPr>
          <p:nvPr/>
        </p:nvPicPr>
        <p:blipFill>
          <a:blip r:embed="rId1"/>
          <a:stretch>
            <a:fillRect/>
          </a:stretch>
        </p:blipFill>
        <p:spPr>
          <a:xfrm>
            <a:off x="320040" y="1463040"/>
            <a:ext cx="4206240" cy="3364992"/>
          </a:xfrm>
          <a:prstGeom prst="rect">
            <a:avLst/>
          </a:prstGeom>
        </p:spPr>
      </p:pic>
      <p:sp>
        <p:nvSpPr>
          <p:cNvPr id="7" name="Text 4"/>
          <p:cNvSpPr/>
          <p:nvPr/>
        </p:nvSpPr>
        <p:spPr>
          <a:xfrm>
            <a:off x="4663440" y="1170432"/>
            <a:ext cx="4114800" cy="274320"/>
          </a:xfrm>
          <a:prstGeom prst="rect">
            <a:avLst/>
          </a:prstGeom>
          <a:noFill/>
          <a:ln/>
        </p:spPr>
        <p:txBody>
          <a:bodyPr wrap="square" rtlCol="0" anchor="ctr"/>
          <a:lstStyle/>
          <a:p>
            <a:pPr indent="0" marL="0">
              <a:buNone/>
            </a:pPr>
            <a:r>
              <a:rPr lang="en-US" sz="1200" b="1" dirty="0">
                <a:solidFill>
                  <a:srgbClr val="3B82F6"/>
                </a:solidFill>
                <a:latin typeface="Calibri" pitchFamily="34" charset="0"/>
                <a:ea typeface="Calibri" pitchFamily="34" charset="-122"/>
                <a:cs typeface="Calibri" pitchFamily="34" charset="-120"/>
              </a:rPr>
              <a:t>Home Dashboard</a:t>
            </a:r>
            <a:endParaRPr lang="en-US" sz="1200" dirty="0"/>
          </a:p>
        </p:txBody>
      </p:sp>
      <p:pic>
        <p:nvPicPr>
          <p:cNvPr id="8" name="Image 1" descr="/home/claude/ppt_imgs/ui_home2.jpg">    </p:cNvPr>
          <p:cNvPicPr>
            <a:picLocks noChangeAspect="1"/>
          </p:cNvPicPr>
          <p:nvPr/>
        </p:nvPicPr>
        <p:blipFill>
          <a:blip r:embed="rId2"/>
          <a:stretch>
            <a:fillRect/>
          </a:stretch>
        </p:blipFill>
        <p:spPr>
          <a:xfrm>
            <a:off x="4663440" y="1463040"/>
            <a:ext cx="4114800" cy="2040237"/>
          </a:xfrm>
          <a:prstGeom prst="rect">
            <a:avLst/>
          </a:prstGeom>
        </p:spPr>
      </p:pic>
      <p:sp>
        <p:nvSpPr>
          <p:cNvPr id="9" name="Text 5"/>
          <p:cNvSpPr/>
          <p:nvPr/>
        </p:nvSpPr>
        <p:spPr>
          <a:xfrm>
            <a:off x="4663440" y="2926080"/>
            <a:ext cx="4114800" cy="274320"/>
          </a:xfrm>
          <a:prstGeom prst="rect">
            <a:avLst/>
          </a:prstGeom>
          <a:noFill/>
          <a:ln/>
        </p:spPr>
        <p:txBody>
          <a:bodyPr wrap="square" rtlCol="0" anchor="ctr"/>
          <a:lstStyle/>
          <a:p>
            <a:pPr indent="0" marL="0">
              <a:buNone/>
            </a:pPr>
            <a:r>
              <a:rPr lang="en-US" sz="1200" b="1" dirty="0">
                <a:solidFill>
                  <a:srgbClr val="06B6D4"/>
                </a:solidFill>
                <a:latin typeface="Calibri" pitchFamily="34" charset="0"/>
                <a:ea typeface="Calibri" pitchFamily="34" charset="-122"/>
                <a:cs typeface="Calibri" pitchFamily="34" charset="-120"/>
              </a:rPr>
              <a:t>Eye Prediction Result</a:t>
            </a:r>
            <a:endParaRPr lang="en-US" sz="1200" dirty="0"/>
          </a:p>
        </p:txBody>
      </p:sp>
      <p:pic>
        <p:nvPicPr>
          <p:cNvPr id="10" name="Image 2" descr="/home/claude/ppt_imgs/ui_eye_result.jpg">    </p:cNvPr>
          <p:cNvPicPr>
            <a:picLocks noChangeAspect="1"/>
          </p:cNvPicPr>
          <p:nvPr/>
        </p:nvPicPr>
        <p:blipFill>
          <a:blip r:embed="rId3"/>
          <a:stretch>
            <a:fillRect/>
          </a:stretch>
        </p:blipFill>
        <p:spPr>
          <a:xfrm>
            <a:off x="4663440" y="3200400"/>
            <a:ext cx="3200400" cy="3284047"/>
          </a:xfrm>
          <a:prstGeom prst="rect">
            <a:avLst/>
          </a:prstGeom>
        </p:spPr>
      </p:pic>
      <p:sp>
        <p:nvSpPr>
          <p:cNvPr id="11" name="Shape 6"/>
          <p:cNvSpPr/>
          <p:nvPr/>
        </p:nvSpPr>
        <p:spPr>
          <a:xfrm>
            <a:off x="320040" y="4572000"/>
            <a:ext cx="2011680" cy="475488"/>
          </a:xfrm>
          <a:prstGeom prst="roundRect">
            <a:avLst>
              <a:gd name="adj" fmla="val 23077"/>
            </a:avLst>
          </a:prstGeom>
          <a:solidFill>
            <a:srgbClr val="1A2744"/>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2" name="Text 7"/>
          <p:cNvSpPr/>
          <p:nvPr/>
        </p:nvSpPr>
        <p:spPr>
          <a:xfrm>
            <a:off x="411480" y="4626864"/>
            <a:ext cx="1828800" cy="219456"/>
          </a:xfrm>
          <a:prstGeom prst="rect">
            <a:avLst/>
          </a:prstGeom>
          <a:noFill/>
          <a:ln/>
        </p:spPr>
        <p:txBody>
          <a:bodyPr wrap="square"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 Home</a:t>
            </a:r>
            <a:endParaRPr lang="en-US" sz="1100" dirty="0"/>
          </a:p>
        </p:txBody>
      </p:sp>
      <p:sp>
        <p:nvSpPr>
          <p:cNvPr id="13" name="Text 8"/>
          <p:cNvSpPr/>
          <p:nvPr/>
        </p:nvSpPr>
        <p:spPr>
          <a:xfrm>
            <a:off x="411480" y="4828032"/>
            <a:ext cx="1828800" cy="1828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Dark hero + stats</a:t>
            </a:r>
            <a:endParaRPr lang="en-US" sz="950" dirty="0"/>
          </a:p>
        </p:txBody>
      </p:sp>
      <p:sp>
        <p:nvSpPr>
          <p:cNvPr id="14" name="Shape 9"/>
          <p:cNvSpPr/>
          <p:nvPr/>
        </p:nvSpPr>
        <p:spPr>
          <a:xfrm>
            <a:off x="2514600" y="4572000"/>
            <a:ext cx="2011680" cy="475488"/>
          </a:xfrm>
          <a:prstGeom prst="roundRect">
            <a:avLst>
              <a:gd name="adj" fmla="val 23077"/>
            </a:avLst>
          </a:prstGeom>
          <a:solidFill>
            <a:srgbClr val="1A2744"/>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5" name="Text 10"/>
          <p:cNvSpPr/>
          <p:nvPr/>
        </p:nvSpPr>
        <p:spPr>
          <a:xfrm>
            <a:off x="2606040" y="4626864"/>
            <a:ext cx="1828800" cy="219456"/>
          </a:xfrm>
          <a:prstGeom prst="rect">
            <a:avLst/>
          </a:prstGeom>
          <a:noFill/>
          <a:ln/>
        </p:spPr>
        <p:txBody>
          <a:bodyPr wrap="square"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 Clinical</a:t>
            </a:r>
            <a:endParaRPr lang="en-US" sz="1100" dirty="0"/>
          </a:p>
        </p:txBody>
      </p:sp>
      <p:sp>
        <p:nvSpPr>
          <p:cNvPr id="16" name="Text 11"/>
          <p:cNvSpPr/>
          <p:nvPr/>
        </p:nvSpPr>
        <p:spPr>
          <a:xfrm>
            <a:off x="2606040" y="4828032"/>
            <a:ext cx="1828800" cy="1828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Blood param form</a:t>
            </a:r>
            <a:endParaRPr lang="en-US" sz="950" dirty="0"/>
          </a:p>
        </p:txBody>
      </p:sp>
      <p:sp>
        <p:nvSpPr>
          <p:cNvPr id="17" name="Shape 12"/>
          <p:cNvSpPr/>
          <p:nvPr/>
        </p:nvSpPr>
        <p:spPr>
          <a:xfrm>
            <a:off x="4709160" y="4572000"/>
            <a:ext cx="2011680" cy="475488"/>
          </a:xfrm>
          <a:prstGeom prst="roundRect">
            <a:avLst>
              <a:gd name="adj" fmla="val 23077"/>
            </a:avLst>
          </a:prstGeom>
          <a:solidFill>
            <a:srgbClr val="1A2744"/>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8" name="Text 13"/>
          <p:cNvSpPr/>
          <p:nvPr/>
        </p:nvSpPr>
        <p:spPr>
          <a:xfrm>
            <a:off x="4800600" y="4626864"/>
            <a:ext cx="1828800" cy="219456"/>
          </a:xfrm>
          <a:prstGeom prst="rect">
            <a:avLst/>
          </a:prstGeom>
          <a:noFill/>
          <a:ln/>
        </p:spPr>
        <p:txBody>
          <a:bodyPr wrap="square"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 Eye Image</a:t>
            </a:r>
            <a:endParaRPr lang="en-US" sz="1100" dirty="0"/>
          </a:p>
        </p:txBody>
      </p:sp>
      <p:sp>
        <p:nvSpPr>
          <p:cNvPr id="19" name="Text 14"/>
          <p:cNvSpPr/>
          <p:nvPr/>
        </p:nvSpPr>
        <p:spPr>
          <a:xfrm>
            <a:off x="4800600" y="4828032"/>
            <a:ext cx="1828800" cy="1828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Upload + webcam</a:t>
            </a:r>
            <a:endParaRPr lang="en-US" sz="950" dirty="0"/>
          </a:p>
        </p:txBody>
      </p:sp>
      <p:sp>
        <p:nvSpPr>
          <p:cNvPr id="20" name="Shape 15"/>
          <p:cNvSpPr/>
          <p:nvPr/>
        </p:nvSpPr>
        <p:spPr>
          <a:xfrm>
            <a:off x="6903720" y="4572000"/>
            <a:ext cx="2011680" cy="475488"/>
          </a:xfrm>
          <a:prstGeom prst="roundRect">
            <a:avLst>
              <a:gd name="adj" fmla="val 23077"/>
            </a:avLst>
          </a:prstGeom>
          <a:solidFill>
            <a:srgbClr val="1A2744"/>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21" name="Text 16"/>
          <p:cNvSpPr/>
          <p:nvPr/>
        </p:nvSpPr>
        <p:spPr>
          <a:xfrm>
            <a:off x="6995160" y="4626864"/>
            <a:ext cx="1828800" cy="219456"/>
          </a:xfrm>
          <a:prstGeom prst="rect">
            <a:avLst/>
          </a:prstGeom>
          <a:noFill/>
          <a:ln/>
        </p:spPr>
        <p:txBody>
          <a:bodyPr wrap="square"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ℹ️ About</a:t>
            </a:r>
            <a:endParaRPr lang="en-US" sz="1100" dirty="0"/>
          </a:p>
        </p:txBody>
      </p:sp>
      <p:sp>
        <p:nvSpPr>
          <p:cNvPr id="22" name="Text 17"/>
          <p:cNvSpPr/>
          <p:nvPr/>
        </p:nvSpPr>
        <p:spPr>
          <a:xfrm>
            <a:off x="6995160" y="4828032"/>
            <a:ext cx="1828800" cy="1828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Model details</a:t>
            </a:r>
            <a:endParaRPr lang="en-US" sz="950" dirty="0"/>
          </a:p>
        </p:txBody>
      </p:sp>
      <p:sp>
        <p:nvSpPr>
          <p:cNvPr id="24" name="Text 18"/>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Bhautik Gondaliya  ·  AnemiaFusionNet  ·  9/10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365760" y="228600"/>
            <a:ext cx="1463040" cy="256032"/>
          </a:xfrm>
          <a:prstGeom prst="roundRect">
            <a:avLst>
              <a:gd name="adj" fmla="val 21429"/>
            </a:avLst>
          </a:prstGeom>
          <a:solidFill>
            <a:srgbClr val="10B981"/>
          </a:solidFill>
          <a:ln/>
        </p:spPr>
      </p:sp>
      <p:sp>
        <p:nvSpPr>
          <p:cNvPr id="3" name="Text 1"/>
          <p:cNvSpPr/>
          <p:nvPr/>
        </p:nvSpPr>
        <p:spPr>
          <a:xfrm>
            <a:off x="365760" y="228600"/>
            <a:ext cx="14630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CONCLUSION</a:t>
            </a:r>
            <a:endParaRPr lang="en-US" sz="900" dirty="0"/>
          </a:p>
        </p:txBody>
      </p:sp>
      <p:sp>
        <p:nvSpPr>
          <p:cNvPr id="4" name="Text 2"/>
          <p:cNvSpPr/>
          <p:nvPr/>
        </p:nvSpPr>
        <p:spPr>
          <a:xfrm>
            <a:off x="365760" y="566928"/>
            <a:ext cx="841248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Summary, Limitations &amp; Future Work</a:t>
            </a:r>
            <a:endParaRPr lang="en-US" sz="2800" dirty="0"/>
          </a:p>
        </p:txBody>
      </p:sp>
      <p:sp>
        <p:nvSpPr>
          <p:cNvPr id="5" name="Shape 3"/>
          <p:cNvSpPr/>
          <p:nvPr/>
        </p:nvSpPr>
        <p:spPr>
          <a:xfrm>
            <a:off x="320040" y="1188720"/>
            <a:ext cx="2834640" cy="2651760"/>
          </a:xfrm>
          <a:prstGeom prst="roundRect">
            <a:avLst>
              <a:gd name="adj" fmla="val 4138"/>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pic>
        <p:nvPicPr>
          <p:cNvPr id="6" name="Image 0" descr="preencoded.png">    </p:cNvPr>
          <p:cNvPicPr>
            <a:picLocks noChangeAspect="1"/>
          </p:cNvPicPr>
          <p:nvPr/>
        </p:nvPicPr>
        <p:blipFill>
          <a:blip r:embed="rId1"/>
          <a:stretch>
            <a:fillRect/>
          </a:stretch>
        </p:blipFill>
        <p:spPr>
          <a:xfrm>
            <a:off x="457200" y="1261872"/>
            <a:ext cx="365760" cy="365760"/>
          </a:xfrm>
          <a:prstGeom prst="rect">
            <a:avLst/>
          </a:prstGeom>
        </p:spPr>
      </p:pic>
      <p:sp>
        <p:nvSpPr>
          <p:cNvPr id="7" name="Text 4"/>
          <p:cNvSpPr/>
          <p:nvPr/>
        </p:nvSpPr>
        <p:spPr>
          <a:xfrm>
            <a:off x="914400" y="1261872"/>
            <a:ext cx="2103120" cy="365760"/>
          </a:xfrm>
          <a:prstGeom prst="rect">
            <a:avLst/>
          </a:prstGeom>
          <a:noFill/>
          <a:ln/>
        </p:spPr>
        <p:txBody>
          <a:bodyPr wrap="square"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Delivered</a:t>
            </a:r>
            <a:endParaRPr lang="en-US" sz="1300" dirty="0"/>
          </a:p>
        </p:txBody>
      </p:sp>
      <p:sp>
        <p:nvSpPr>
          <p:cNvPr id="8" name="Text 5"/>
          <p:cNvSpPr/>
          <p:nvPr/>
        </p:nvSpPr>
        <p:spPr>
          <a:xfrm>
            <a:off x="457200" y="1691640"/>
            <a:ext cx="2560320" cy="2011680"/>
          </a:xfrm>
          <a:prstGeom prst="rect">
            <a:avLst/>
          </a:prstGeom>
          <a:noFill/>
          <a:ln/>
        </p:spPr>
        <p:txBody>
          <a:bodyPr wrap="square" rtlCol="0" anchor="ctr"/>
          <a:lstStyle/>
          <a:p>
            <a:pPr indent="0" marL="0">
              <a:spcAft>
                <a:spcPts val="500"/>
              </a:spcAft>
              <a:buNone/>
            </a:pPr>
            <a:r>
              <a:rPr lang="en-US" sz="1050" dirty="0">
                <a:solidFill>
                  <a:srgbClr val="E2E8F0"/>
                </a:solidFill>
                <a:latin typeface="Calibri" pitchFamily="34" charset="0"/>
                <a:ea typeface="Calibri" pitchFamily="34" charset="-122"/>
                <a:cs typeface="Calibri" pitchFamily="34" charset="-120"/>
              </a:rPr>
              <a:t>✅ CNN Eye Image Model</a:t>
            </a:r>
            <a:endParaRPr lang="en-US" sz="1050" dirty="0"/>
          </a:p>
          <a:p>
            <a:pPr indent="0" marL="0">
              <a:spcAft>
                <a:spcPts val="500"/>
              </a:spcAft>
              <a:buNone/>
            </a:pPr>
            <a:r>
              <a:rPr lang="en-US" sz="1050" dirty="0">
                <a:solidFill>
                  <a:srgbClr val="E2E8F0"/>
                </a:solidFill>
                <a:latin typeface="Calibri" pitchFamily="34" charset="0"/>
                <a:ea typeface="Calibri" pitchFamily="34" charset="-122"/>
                <a:cs typeface="Calibri" pitchFamily="34" charset="-120"/>
              </a:rPr>
              <a:t>✅ Clinical ML Model (RandomForest)</a:t>
            </a:r>
            <a:endParaRPr lang="en-US" sz="1050" dirty="0"/>
          </a:p>
          <a:p>
            <a:pPr indent="0" marL="0">
              <a:spcAft>
                <a:spcPts val="500"/>
              </a:spcAft>
              <a:buNone/>
            </a:pPr>
            <a:r>
              <a:rPr lang="en-US" sz="1050" dirty="0">
                <a:solidFill>
                  <a:srgbClr val="E2E8F0"/>
                </a:solidFill>
                <a:latin typeface="Calibri" pitchFamily="34" charset="0"/>
                <a:ea typeface="Calibri" pitchFamily="34" charset="-122"/>
                <a:cs typeface="Calibri" pitchFamily="34" charset="-120"/>
              </a:rPr>
              <a:t>✅ Streamlit Web App (4 pages)</a:t>
            </a:r>
            <a:endParaRPr lang="en-US" sz="1050" dirty="0"/>
          </a:p>
          <a:p>
            <a:pPr indent="0" marL="0">
              <a:spcAft>
                <a:spcPts val="500"/>
              </a:spcAft>
              <a:buNone/>
            </a:pPr>
            <a:r>
              <a:rPr lang="en-US" sz="1050" dirty="0">
                <a:solidFill>
                  <a:srgbClr val="E2E8F0"/>
                </a:solidFill>
                <a:latin typeface="Calibri" pitchFamily="34" charset="0"/>
                <a:ea typeface="Calibri" pitchFamily="34" charset="-122"/>
                <a:cs typeface="Calibri" pitchFamily="34" charset="-120"/>
              </a:rPr>
              <a:t>✅ GitHub Repository</a:t>
            </a:r>
            <a:endParaRPr lang="en-US" sz="1050" dirty="0"/>
          </a:p>
          <a:p>
            <a:pPr indent="0" marL="0">
              <a:spcAft>
                <a:spcPts val="500"/>
              </a:spcAft>
              <a:buNone/>
            </a:pPr>
            <a:r>
              <a:rPr lang="en-US" sz="1050" dirty="0">
                <a:solidFill>
                  <a:srgbClr val="E2E8F0"/>
                </a:solidFill>
                <a:latin typeface="Calibri" pitchFamily="34" charset="0"/>
                <a:ea typeface="Calibri" pitchFamily="34" charset="-122"/>
                <a:cs typeface="Calibri" pitchFamily="34" charset="-120"/>
              </a:rPr>
              <a:t>✅ Performance Evaluation Report</a:t>
            </a:r>
            <a:endParaRPr lang="en-US" sz="1050" dirty="0"/>
          </a:p>
          <a:p>
            <a:pPr indent="0" marL="0">
              <a:spcAft>
                <a:spcPts val="500"/>
              </a:spcAft>
              <a:buNone/>
            </a:pPr>
            <a:r>
              <a:rPr lang="en-US" sz="1050" dirty="0">
                <a:solidFill>
                  <a:srgbClr val="E2E8F0"/>
                </a:solidFill>
                <a:latin typeface="Calibri" pitchFamily="34" charset="0"/>
                <a:ea typeface="Calibri" pitchFamily="34" charset="-122"/>
                <a:cs typeface="Calibri" pitchFamily="34" charset="-120"/>
              </a:rPr>
              <a:t>✅ Patient-level data splitting</a:t>
            </a:r>
            <a:endParaRPr lang="en-US" sz="1050" dirty="0"/>
          </a:p>
        </p:txBody>
      </p:sp>
      <p:sp>
        <p:nvSpPr>
          <p:cNvPr id="9" name="Shape 6"/>
          <p:cNvSpPr/>
          <p:nvPr/>
        </p:nvSpPr>
        <p:spPr>
          <a:xfrm>
            <a:off x="3291840" y="1188720"/>
            <a:ext cx="2834640" cy="2651760"/>
          </a:xfrm>
          <a:prstGeom prst="roundRect">
            <a:avLst>
              <a:gd name="adj" fmla="val 4138"/>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pic>
        <p:nvPicPr>
          <p:cNvPr id="10" name="Image 1" descr="preencoded.png">    </p:cNvPr>
          <p:cNvPicPr>
            <a:picLocks noChangeAspect="1"/>
          </p:cNvPicPr>
          <p:nvPr/>
        </p:nvPicPr>
        <p:blipFill>
          <a:blip r:embed="rId2"/>
          <a:stretch>
            <a:fillRect/>
          </a:stretch>
        </p:blipFill>
        <p:spPr>
          <a:xfrm>
            <a:off x="3429000" y="1261872"/>
            <a:ext cx="365760" cy="365760"/>
          </a:xfrm>
          <a:prstGeom prst="rect">
            <a:avLst/>
          </a:prstGeom>
        </p:spPr>
      </p:pic>
      <p:sp>
        <p:nvSpPr>
          <p:cNvPr id="11" name="Text 7"/>
          <p:cNvSpPr/>
          <p:nvPr/>
        </p:nvSpPr>
        <p:spPr>
          <a:xfrm>
            <a:off x="3886200" y="1261872"/>
            <a:ext cx="2103120" cy="365760"/>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Limitations</a:t>
            </a:r>
            <a:endParaRPr lang="en-US" sz="1300" dirty="0"/>
          </a:p>
        </p:txBody>
      </p:sp>
      <p:sp>
        <p:nvSpPr>
          <p:cNvPr id="12" name="Text 8"/>
          <p:cNvSpPr/>
          <p:nvPr/>
        </p:nvSpPr>
        <p:spPr>
          <a:xfrm>
            <a:off x="3429000" y="1691640"/>
            <a:ext cx="2560320" cy="2011680"/>
          </a:xfrm>
          <a:prstGeom prst="rect">
            <a:avLst/>
          </a:prstGeom>
          <a:noFill/>
          <a:ln/>
        </p:spPr>
        <p:txBody>
          <a:bodyPr wrap="square" rtlCol="0" anchor="ctr"/>
          <a:lstStyle/>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CNN: Very small dataset (3-5 imgs)</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Mixed image types reduce accuracy</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Clinical: Meta-feature data leakage</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Transformer fusion not yet built</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No geo-risk integration yet</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Webcam captures full face, not close-up</a:t>
            </a:r>
            <a:endParaRPr lang="en-US" sz="1050" dirty="0"/>
          </a:p>
        </p:txBody>
      </p:sp>
      <p:sp>
        <p:nvSpPr>
          <p:cNvPr id="13" name="Shape 9"/>
          <p:cNvSpPr/>
          <p:nvPr/>
        </p:nvSpPr>
        <p:spPr>
          <a:xfrm>
            <a:off x="6263640" y="1188720"/>
            <a:ext cx="2560320" cy="2651760"/>
          </a:xfrm>
          <a:prstGeom prst="roundRect">
            <a:avLst>
              <a:gd name="adj" fmla="val 4286"/>
            </a:avLst>
          </a:prstGeom>
          <a:solidFill>
            <a:srgbClr val="141E30"/>
          </a:solidFill>
          <a:ln w="6350">
            <a:solidFill>
              <a:srgbClr val="1E3A5F"/>
            </a:solidFill>
            <a:prstDash val="solid"/>
          </a:ln>
          <a:effectLst>
            <a:outerShdw sx="100000" sy="100000" kx="0" ky="0" algn="bl" rotWithShape="0" blurRad="127000" dist="38100" dir="2700000">
              <a:srgbClr val="000000">
                <a:alpha val="30000"/>
              </a:srgbClr>
            </a:outerShdw>
          </a:effectLst>
        </p:spPr>
      </p:sp>
      <p:pic>
        <p:nvPicPr>
          <p:cNvPr id="14" name="Image 2" descr="preencoded.png">    </p:cNvPr>
          <p:cNvPicPr>
            <a:picLocks noChangeAspect="1"/>
          </p:cNvPicPr>
          <p:nvPr/>
        </p:nvPicPr>
        <p:blipFill>
          <a:blip r:embed="rId3"/>
          <a:stretch>
            <a:fillRect/>
          </a:stretch>
        </p:blipFill>
        <p:spPr>
          <a:xfrm>
            <a:off x="6400800" y="1261872"/>
            <a:ext cx="365760" cy="365760"/>
          </a:xfrm>
          <a:prstGeom prst="rect">
            <a:avLst/>
          </a:prstGeom>
        </p:spPr>
      </p:pic>
      <p:sp>
        <p:nvSpPr>
          <p:cNvPr id="15" name="Text 10"/>
          <p:cNvSpPr/>
          <p:nvPr/>
        </p:nvSpPr>
        <p:spPr>
          <a:xfrm>
            <a:off x="6858000" y="1261872"/>
            <a:ext cx="1920240" cy="365760"/>
          </a:xfrm>
          <a:prstGeom prst="rect">
            <a:avLst/>
          </a:prstGeom>
          <a:noFill/>
          <a:ln/>
        </p:spPr>
        <p:txBody>
          <a:bodyPr wrap="square" rtlCol="0" anchor="ctr"/>
          <a:lstStyle/>
          <a:p>
            <a:pPr indent="0" marL="0">
              <a:buNone/>
            </a:pPr>
            <a:r>
              <a:rPr lang="en-US" sz="1300" b="1" dirty="0">
                <a:solidFill>
                  <a:srgbClr val="8B5CF6"/>
                </a:solidFill>
                <a:latin typeface="Calibri" pitchFamily="34" charset="0"/>
                <a:ea typeface="Calibri" pitchFamily="34" charset="-122"/>
                <a:cs typeface="Calibri" pitchFamily="34" charset="-120"/>
              </a:rPr>
              <a:t>Next Steps</a:t>
            </a:r>
            <a:endParaRPr lang="en-US" sz="1300" dirty="0"/>
          </a:p>
        </p:txBody>
      </p:sp>
      <p:sp>
        <p:nvSpPr>
          <p:cNvPr id="16" name="Text 11"/>
          <p:cNvSpPr/>
          <p:nvPr/>
        </p:nvSpPr>
        <p:spPr>
          <a:xfrm>
            <a:off x="6400800" y="1691640"/>
            <a:ext cx="2286000" cy="2011680"/>
          </a:xfrm>
          <a:prstGeom prst="rect">
            <a:avLst/>
          </a:prstGeom>
          <a:noFill/>
          <a:ln/>
        </p:spPr>
        <p:txBody>
          <a:bodyPr wrap="square" rtlCol="0" anchor="ctr"/>
          <a:lstStyle/>
          <a:p>
            <a:pPr marL="342900" indent="-342900">
              <a:spcAft>
                <a:spcPts val="400"/>
              </a:spcAft>
              <a:buSzPct val="100000"/>
              <a:buChar char="•"/>
            </a:pPr>
            <a:r>
              <a:rPr lang="en-US" sz="1000" dirty="0">
                <a:solidFill>
                  <a:srgbClr val="E2E8F0"/>
                </a:solidFill>
                <a:latin typeface="Calibri" pitchFamily="34" charset="0"/>
                <a:ea typeface="Calibri" pitchFamily="34" charset="-122"/>
                <a:cs typeface="Calibri" pitchFamily="34" charset="-120"/>
              </a:rPr>
              <a:t>Collect 100+ patients with palpebral images only</a:t>
            </a:r>
            <a:endParaRPr lang="en-US" sz="1000" dirty="0"/>
          </a:p>
          <a:p>
            <a:pPr marL="342900" indent="-342900">
              <a:spcAft>
                <a:spcPts val="400"/>
              </a:spcAft>
              <a:buSzPct val="100000"/>
              <a:buChar char="•"/>
            </a:pPr>
            <a:r>
              <a:rPr lang="en-US" sz="1000" dirty="0">
                <a:solidFill>
                  <a:srgbClr val="E2E8F0"/>
                </a:solidFill>
                <a:latin typeface="Calibri" pitchFamily="34" charset="0"/>
                <a:ea typeface="Calibri" pitchFamily="34" charset="-122"/>
                <a:cs typeface="Calibri" pitchFamily="34" charset="-120"/>
              </a:rPr>
              <a:t>Remove leakage features from clinical data</a:t>
            </a:r>
            <a:endParaRPr lang="en-US" sz="1000" dirty="0"/>
          </a:p>
          <a:p>
            <a:pPr marL="342900" indent="-342900">
              <a:spcAft>
                <a:spcPts val="400"/>
              </a:spcAft>
              <a:buSzPct val="100000"/>
              <a:buChar char="•"/>
            </a:pPr>
            <a:r>
              <a:rPr lang="en-US" sz="1000" dirty="0">
                <a:solidFill>
                  <a:srgbClr val="E2E8F0"/>
                </a:solidFill>
                <a:latin typeface="Calibri" pitchFamily="34" charset="0"/>
                <a:ea typeface="Calibri" pitchFamily="34" charset="-122"/>
                <a:cs typeface="Calibri" pitchFamily="34" charset="-120"/>
              </a:rPr>
              <a:t>Build Transformer fusion (Module 4)</a:t>
            </a:r>
            <a:endParaRPr lang="en-US" sz="1000" dirty="0"/>
          </a:p>
          <a:p>
            <a:pPr marL="342900" indent="-342900">
              <a:spcAft>
                <a:spcPts val="400"/>
              </a:spcAft>
              <a:buSzPct val="100000"/>
              <a:buChar char="•"/>
            </a:pPr>
            <a:r>
              <a:rPr lang="en-US" sz="1000" dirty="0">
                <a:solidFill>
                  <a:srgbClr val="E2E8F0"/>
                </a:solidFill>
                <a:latin typeface="Calibri" pitchFamily="34" charset="0"/>
                <a:ea typeface="Calibri" pitchFamily="34" charset="-122"/>
                <a:cs typeface="Calibri" pitchFamily="34" charset="-120"/>
              </a:rPr>
              <a:t>Add NFHS-5 geo-risk module</a:t>
            </a:r>
            <a:endParaRPr lang="en-US" sz="1000" dirty="0"/>
          </a:p>
          <a:p>
            <a:pPr marL="342900" indent="-342900">
              <a:spcAft>
                <a:spcPts val="400"/>
              </a:spcAft>
              <a:buSzPct val="100000"/>
              <a:buChar char="•"/>
            </a:pPr>
            <a:r>
              <a:rPr lang="en-US" sz="1000" dirty="0">
                <a:solidFill>
                  <a:srgbClr val="E2E8F0"/>
                </a:solidFill>
                <a:latin typeface="Calibri" pitchFamily="34" charset="0"/>
                <a:ea typeface="Calibri" pitchFamily="34" charset="-122"/>
                <a:cs typeface="Calibri" pitchFamily="34" charset="-120"/>
              </a:rPr>
              <a:t>Docker + cloud deployment (AWS/GCP)</a:t>
            </a:r>
            <a:endParaRPr lang="en-US" sz="1000" dirty="0"/>
          </a:p>
          <a:p>
            <a:pPr marL="342900" indent="-342900">
              <a:spcAft>
                <a:spcPts val="400"/>
              </a:spcAft>
              <a:buSzPct val="100000"/>
              <a:buChar char="•"/>
            </a:pPr>
            <a:r>
              <a:rPr lang="en-US" sz="1000" dirty="0">
                <a:solidFill>
                  <a:srgbClr val="E2E8F0"/>
                </a:solidFill>
                <a:latin typeface="Calibri" pitchFamily="34" charset="0"/>
                <a:ea typeface="Calibri" pitchFamily="34" charset="-122"/>
                <a:cs typeface="Calibri" pitchFamily="34" charset="-120"/>
              </a:rPr>
              <a:t>Mobile app for health workers</a:t>
            </a:r>
            <a:endParaRPr lang="en-US" sz="1000" dirty="0"/>
          </a:p>
        </p:txBody>
      </p:sp>
      <p:sp>
        <p:nvSpPr>
          <p:cNvPr id="17" name="Shape 12"/>
          <p:cNvSpPr/>
          <p:nvPr/>
        </p:nvSpPr>
        <p:spPr>
          <a:xfrm>
            <a:off x="320040" y="3950208"/>
            <a:ext cx="8503920" cy="566928"/>
          </a:xfrm>
          <a:prstGeom prst="roundRect">
            <a:avLst>
              <a:gd name="adj" fmla="val 19355"/>
            </a:avLst>
          </a:prstGeom>
          <a:solidFill>
            <a:srgbClr val="1A2744"/>
          </a:solidFill>
          <a:ln w="6350">
            <a:solidFill>
              <a:srgbClr val="1E3A5F"/>
            </a:solidFill>
            <a:prstDash val="solid"/>
          </a:ln>
          <a:effectLst>
            <a:outerShdw sx="100000" sy="100000" kx="0" ky="0" algn="bl" rotWithShape="0" blurRad="127000" dist="38100" dir="2700000">
              <a:srgbClr val="000000">
                <a:alpha val="30000"/>
              </a:srgbClr>
            </a:outerShdw>
          </a:effectLst>
        </p:spPr>
      </p:sp>
      <p:sp>
        <p:nvSpPr>
          <p:cNvPr id="18" name="Text 13"/>
          <p:cNvSpPr/>
          <p:nvPr/>
        </p:nvSpPr>
        <p:spPr>
          <a:xfrm>
            <a:off x="457200" y="4023360"/>
            <a:ext cx="1463040" cy="402336"/>
          </a:xfrm>
          <a:prstGeom prst="rect">
            <a:avLst/>
          </a:prstGeom>
          <a:noFill/>
          <a:ln/>
        </p:spPr>
        <p:txBody>
          <a:bodyPr wrap="square" rtlCol="0" anchor="ctr"/>
          <a:lstStyle/>
          <a:p>
            <a:pPr indent="0" marL="0">
              <a:buNone/>
            </a:pPr>
            <a:r>
              <a:rPr lang="en-US" sz="1100" b="1" dirty="0">
                <a:solidFill>
                  <a:srgbClr val="94A3B8"/>
                </a:solidFill>
                <a:latin typeface="Calibri" pitchFamily="34" charset="0"/>
                <a:ea typeface="Calibri" pitchFamily="34" charset="-122"/>
                <a:cs typeface="Calibri" pitchFamily="34" charset="-120"/>
              </a:rPr>
              <a:t>Technology Stack:</a:t>
            </a:r>
            <a:endParaRPr lang="en-US" sz="1100" dirty="0"/>
          </a:p>
        </p:txBody>
      </p:sp>
      <p:sp>
        <p:nvSpPr>
          <p:cNvPr id="19" name="Shape 14"/>
          <p:cNvSpPr/>
          <p:nvPr/>
        </p:nvSpPr>
        <p:spPr>
          <a:xfrm>
            <a:off x="1920240" y="4041648"/>
            <a:ext cx="822960" cy="329184"/>
          </a:xfrm>
          <a:prstGeom prst="roundRect">
            <a:avLst>
              <a:gd name="adj" fmla="val 22222"/>
            </a:avLst>
          </a:prstGeom>
          <a:solidFill>
            <a:srgbClr val="141E30"/>
          </a:solidFill>
          <a:ln w="6350">
            <a:solidFill>
              <a:srgbClr val="1E3A5F"/>
            </a:solidFill>
            <a:prstDash val="solid"/>
          </a:ln>
        </p:spPr>
      </p:sp>
      <p:sp>
        <p:nvSpPr>
          <p:cNvPr id="20" name="Text 15"/>
          <p:cNvSpPr/>
          <p:nvPr/>
        </p:nvSpPr>
        <p:spPr>
          <a:xfrm>
            <a:off x="1920240" y="4041648"/>
            <a:ext cx="822960" cy="32918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Python 3.10</a:t>
            </a:r>
            <a:endParaRPr lang="en-US" sz="850" dirty="0"/>
          </a:p>
        </p:txBody>
      </p:sp>
      <p:sp>
        <p:nvSpPr>
          <p:cNvPr id="21" name="Shape 16"/>
          <p:cNvSpPr/>
          <p:nvPr/>
        </p:nvSpPr>
        <p:spPr>
          <a:xfrm>
            <a:off x="2816352" y="4041648"/>
            <a:ext cx="822960" cy="329184"/>
          </a:xfrm>
          <a:prstGeom prst="roundRect">
            <a:avLst>
              <a:gd name="adj" fmla="val 22222"/>
            </a:avLst>
          </a:prstGeom>
          <a:solidFill>
            <a:srgbClr val="141E30"/>
          </a:solidFill>
          <a:ln w="6350">
            <a:solidFill>
              <a:srgbClr val="1E3A5F"/>
            </a:solidFill>
            <a:prstDash val="solid"/>
          </a:ln>
        </p:spPr>
      </p:sp>
      <p:sp>
        <p:nvSpPr>
          <p:cNvPr id="22" name="Text 17"/>
          <p:cNvSpPr/>
          <p:nvPr/>
        </p:nvSpPr>
        <p:spPr>
          <a:xfrm>
            <a:off x="2816352" y="4041648"/>
            <a:ext cx="822960" cy="32918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PyTorch</a:t>
            </a:r>
            <a:endParaRPr lang="en-US" sz="850" dirty="0"/>
          </a:p>
        </p:txBody>
      </p:sp>
      <p:sp>
        <p:nvSpPr>
          <p:cNvPr id="23" name="Shape 18"/>
          <p:cNvSpPr/>
          <p:nvPr/>
        </p:nvSpPr>
        <p:spPr>
          <a:xfrm>
            <a:off x="3712464" y="4041648"/>
            <a:ext cx="822960" cy="329184"/>
          </a:xfrm>
          <a:prstGeom prst="roundRect">
            <a:avLst>
              <a:gd name="adj" fmla="val 22222"/>
            </a:avLst>
          </a:prstGeom>
          <a:solidFill>
            <a:srgbClr val="141E30"/>
          </a:solidFill>
          <a:ln w="6350">
            <a:solidFill>
              <a:srgbClr val="1E3A5F"/>
            </a:solidFill>
            <a:prstDash val="solid"/>
          </a:ln>
        </p:spPr>
      </p:sp>
      <p:sp>
        <p:nvSpPr>
          <p:cNvPr id="24" name="Text 19"/>
          <p:cNvSpPr/>
          <p:nvPr/>
        </p:nvSpPr>
        <p:spPr>
          <a:xfrm>
            <a:off x="3712464" y="4041648"/>
            <a:ext cx="822960" cy="32918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XGBoost</a:t>
            </a:r>
            <a:endParaRPr lang="en-US" sz="850" dirty="0"/>
          </a:p>
        </p:txBody>
      </p:sp>
      <p:sp>
        <p:nvSpPr>
          <p:cNvPr id="25" name="Shape 20"/>
          <p:cNvSpPr/>
          <p:nvPr/>
        </p:nvSpPr>
        <p:spPr>
          <a:xfrm>
            <a:off x="4608576" y="4041648"/>
            <a:ext cx="822960" cy="329184"/>
          </a:xfrm>
          <a:prstGeom prst="roundRect">
            <a:avLst>
              <a:gd name="adj" fmla="val 22222"/>
            </a:avLst>
          </a:prstGeom>
          <a:solidFill>
            <a:srgbClr val="141E30"/>
          </a:solidFill>
          <a:ln w="6350">
            <a:solidFill>
              <a:srgbClr val="1E3A5F"/>
            </a:solidFill>
            <a:prstDash val="solid"/>
          </a:ln>
        </p:spPr>
      </p:sp>
      <p:sp>
        <p:nvSpPr>
          <p:cNvPr id="26" name="Text 21"/>
          <p:cNvSpPr/>
          <p:nvPr/>
        </p:nvSpPr>
        <p:spPr>
          <a:xfrm>
            <a:off x="4608576" y="4041648"/>
            <a:ext cx="822960" cy="32918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Scikit-Learn</a:t>
            </a:r>
            <a:endParaRPr lang="en-US" sz="850" dirty="0"/>
          </a:p>
        </p:txBody>
      </p:sp>
      <p:sp>
        <p:nvSpPr>
          <p:cNvPr id="27" name="Shape 22"/>
          <p:cNvSpPr/>
          <p:nvPr/>
        </p:nvSpPr>
        <p:spPr>
          <a:xfrm>
            <a:off x="5504688" y="4041648"/>
            <a:ext cx="822960" cy="329184"/>
          </a:xfrm>
          <a:prstGeom prst="roundRect">
            <a:avLst>
              <a:gd name="adj" fmla="val 22222"/>
            </a:avLst>
          </a:prstGeom>
          <a:solidFill>
            <a:srgbClr val="141E30"/>
          </a:solidFill>
          <a:ln w="6350">
            <a:solidFill>
              <a:srgbClr val="1E3A5F"/>
            </a:solidFill>
            <a:prstDash val="solid"/>
          </a:ln>
        </p:spPr>
      </p:sp>
      <p:sp>
        <p:nvSpPr>
          <p:cNvPr id="28" name="Text 23"/>
          <p:cNvSpPr/>
          <p:nvPr/>
        </p:nvSpPr>
        <p:spPr>
          <a:xfrm>
            <a:off x="5504688" y="4041648"/>
            <a:ext cx="822960" cy="32918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Streamlit</a:t>
            </a:r>
            <a:endParaRPr lang="en-US" sz="850" dirty="0"/>
          </a:p>
        </p:txBody>
      </p:sp>
      <p:sp>
        <p:nvSpPr>
          <p:cNvPr id="29" name="Shape 24"/>
          <p:cNvSpPr/>
          <p:nvPr/>
        </p:nvSpPr>
        <p:spPr>
          <a:xfrm>
            <a:off x="6400800" y="4041648"/>
            <a:ext cx="822960" cy="329184"/>
          </a:xfrm>
          <a:prstGeom prst="roundRect">
            <a:avLst>
              <a:gd name="adj" fmla="val 22222"/>
            </a:avLst>
          </a:prstGeom>
          <a:solidFill>
            <a:srgbClr val="141E30"/>
          </a:solidFill>
          <a:ln w="6350">
            <a:solidFill>
              <a:srgbClr val="1E3A5F"/>
            </a:solidFill>
            <a:prstDash val="solid"/>
          </a:ln>
        </p:spPr>
      </p:sp>
      <p:sp>
        <p:nvSpPr>
          <p:cNvPr id="30" name="Text 25"/>
          <p:cNvSpPr/>
          <p:nvPr/>
        </p:nvSpPr>
        <p:spPr>
          <a:xfrm>
            <a:off x="6400800" y="4041648"/>
            <a:ext cx="822960" cy="32918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Pillow / OpenCV</a:t>
            </a:r>
            <a:endParaRPr lang="en-US" sz="850" dirty="0"/>
          </a:p>
        </p:txBody>
      </p:sp>
      <p:sp>
        <p:nvSpPr>
          <p:cNvPr id="31" name="Shape 26"/>
          <p:cNvSpPr/>
          <p:nvPr/>
        </p:nvSpPr>
        <p:spPr>
          <a:xfrm>
            <a:off x="7296912" y="4041648"/>
            <a:ext cx="822960" cy="329184"/>
          </a:xfrm>
          <a:prstGeom prst="roundRect">
            <a:avLst>
              <a:gd name="adj" fmla="val 22222"/>
            </a:avLst>
          </a:prstGeom>
          <a:solidFill>
            <a:srgbClr val="141E30"/>
          </a:solidFill>
          <a:ln w="6350">
            <a:solidFill>
              <a:srgbClr val="1E3A5F"/>
            </a:solidFill>
            <a:prstDash val="solid"/>
          </a:ln>
        </p:spPr>
      </p:sp>
      <p:sp>
        <p:nvSpPr>
          <p:cNvPr id="32" name="Text 27"/>
          <p:cNvSpPr/>
          <p:nvPr/>
        </p:nvSpPr>
        <p:spPr>
          <a:xfrm>
            <a:off x="7296912" y="4041648"/>
            <a:ext cx="822960" cy="32918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Pandas / NumPy</a:t>
            </a:r>
            <a:endParaRPr lang="en-US" sz="850" dirty="0"/>
          </a:p>
        </p:txBody>
      </p:sp>
      <p:sp>
        <p:nvSpPr>
          <p:cNvPr id="33" name="Shape 28"/>
          <p:cNvSpPr/>
          <p:nvPr/>
        </p:nvSpPr>
        <p:spPr>
          <a:xfrm>
            <a:off x="8193024" y="4041648"/>
            <a:ext cx="822960" cy="329184"/>
          </a:xfrm>
          <a:prstGeom prst="roundRect">
            <a:avLst>
              <a:gd name="adj" fmla="val 22222"/>
            </a:avLst>
          </a:prstGeom>
          <a:solidFill>
            <a:srgbClr val="141E30"/>
          </a:solidFill>
          <a:ln w="6350">
            <a:solidFill>
              <a:srgbClr val="1E3A5F"/>
            </a:solidFill>
            <a:prstDash val="solid"/>
          </a:ln>
        </p:spPr>
      </p:sp>
      <p:sp>
        <p:nvSpPr>
          <p:cNvPr id="34" name="Text 29"/>
          <p:cNvSpPr/>
          <p:nvPr/>
        </p:nvSpPr>
        <p:spPr>
          <a:xfrm>
            <a:off x="8193024" y="4041648"/>
            <a:ext cx="822960" cy="329184"/>
          </a:xfrm>
          <a:prstGeom prst="rect">
            <a:avLst/>
          </a:prstGeom>
          <a:noFill/>
          <a:ln/>
        </p:spPr>
        <p:txBody>
          <a:bodyPr wrap="square" lIns="0" tIns="0" rIns="0" bIns="0" rtlCol="0" anchor="ctr"/>
          <a:lstStyle/>
          <a:p>
            <a:pPr algn="ctr" indent="0" marL="0">
              <a:buNone/>
            </a:pPr>
            <a:r>
              <a:rPr lang="en-US" sz="850" dirty="0">
                <a:solidFill>
                  <a:srgbClr val="E2E8F0"/>
                </a:solidFill>
                <a:latin typeface="Calibri" pitchFamily="34" charset="0"/>
                <a:ea typeface="Calibri" pitchFamily="34" charset="-122"/>
                <a:cs typeface="Calibri" pitchFamily="34" charset="-120"/>
              </a:rPr>
              <a:t>Google Colab (GPU)</a:t>
            </a:r>
            <a:endParaRPr lang="en-US" sz="850" dirty="0"/>
          </a:p>
        </p:txBody>
      </p:sp>
      <p:sp>
        <p:nvSpPr>
          <p:cNvPr id="35" name="Text 30"/>
          <p:cNvSpPr/>
          <p:nvPr/>
        </p:nvSpPr>
        <p:spPr>
          <a:xfrm>
            <a:off x="320040" y="4626864"/>
            <a:ext cx="8503920" cy="256032"/>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Thank You  ·  Bhautik Gondaliya  ·  gondaliyabhautik419@gmail.com  ·  github.com/bhautik2005/Anemia_detection</a:t>
            </a:r>
            <a:endParaRPr lang="en-US" sz="1000" dirty="0"/>
          </a:p>
        </p:txBody>
      </p:sp>
      <p:sp>
        <p:nvSpPr>
          <p:cNvPr id="37" name="Text 31"/>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Bhautik Gondaliya  ·  AnemiaFusionNet  ·  10/10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AnemiaFusionNet — AI Anemia Detection</dc:title>
  <dc:subject>PptxGenJS Presentation</dc:subject>
  <dc:creator>Bhautik Gondaliya</dc:creator>
  <cp:lastModifiedBy>Bhautik Gondaliya</cp:lastModifiedBy>
  <cp:revision>1</cp:revision>
  <dcterms:created xsi:type="dcterms:W3CDTF">2026-06-29T03:06:56Z</dcterms:created>
  <dcterms:modified xsi:type="dcterms:W3CDTF">2026-06-29T03:06:56Z</dcterms:modified>
</cp:coreProperties>
</file>